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Familiars. Everyone gets a small creature, hatched from their own voice, that meets other people’s creatures first, so you never have to send the cold text.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than half of students say they are lonely, and it is not for lack of people. The problem is the first move. BeReal proved a synchronized moment brings people together, and died because a photo has nothing to say. Three out of four group plans die in the chat.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idea is to manufacture the introduction. Each person gets a familiar: a K2 Horizon 0.9B model that runs locally and knows only them. Two familiars meet first and hand you one line worth saying. The 375B model runs the shared world around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Onboarding is one screen and no typing. ElevenLabs Scribe transcribes as you talk, the 375B hatches a creature from the transcript, and from then on a 0.9B instance is your familiar.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multiplayer core. Casting mode, one wiggle, one tap on the other phone. The two 0.9B familiars write the duet, ElevenLabs gives each a voice, and you both get the one thing you share. Then you talk, in person.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 is your web: the people you met, grouped by what you share, and friends of friends fading upward. The 375B writes the intro line, and a friend’s familiar carries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night one question lands on every phone in the circle at the same second, in the familiar’s voice. Nobody types: the phone listens while you talk.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Send your familiar out. Querit searches and fetches real pages, the 375B plans the queries and extracts the facts, and it never invents an event. Three cards, swipe, and when everyone is in, it is a plan.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night your familiar tells you the story: who it met, the line that worked, and the person who was two tables away all night. The 375B writes it from the day’s web; your familiar’s voice tells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projector the whole room’s web grows live, and the stage shows who is meeting right now.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feature needs the other phone. The wiggle needs a catch, the cast needs the circle, the plan needs everyone, the intro needs a friend’s familiar in the middle.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familiar keeps a memory of everyone it meets, on your side. The 375B learns the room. The scout learns which outings actually happened and finds the next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Familiars. Meet through your familiar.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22960"/>
            <a:ext cx="8229600" cy="274320"/>
          </a:xfrm>
          <a:prstGeom prst="rect">
            <a:avLst/>
          </a:prstGeom>
          <a:noFill/>
        </p:spPr>
        <p:txBody>
          <a:bodyPr wrap="square" anchor="t" lIns="0" rIns="0" tIns="0" bIns="0">
            <a:spAutoFit/>
          </a:bodyPr>
          <a:lstStyle/>
          <a:p>
            <a:pPr algn="l">
              <a:lnSpc>
                <a:spcPct val="110000"/>
              </a:lnSpc>
            </a:pPr>
            <a:r>
              <a:rPr sz="1100" b="1">
                <a:solidFill>
                  <a:srgbClr val="6C4DE0"/>
                </a:solidFill>
                <a:latin typeface="Arial"/>
              </a:rPr>
              <a:t>HACKCMU 2026 · MULTIPLAYER · IFM · ELEVENLABS</a:t>
            </a:r>
          </a:p>
        </p:txBody>
      </p:sp>
      <p:sp>
        <p:nvSpPr>
          <p:cNvPr id="4" name="TextBox 3"/>
          <p:cNvSpPr txBox="1"/>
          <p:nvPr/>
        </p:nvSpPr>
        <p:spPr>
          <a:xfrm>
            <a:off x="822960" y="1463040"/>
            <a:ext cx="6583680" cy="2011680"/>
          </a:xfrm>
          <a:prstGeom prst="rect">
            <a:avLst/>
          </a:prstGeom>
          <a:noFill/>
        </p:spPr>
        <p:txBody>
          <a:bodyPr wrap="square" anchor="t" lIns="0" rIns="0" tIns="0" bIns="0">
            <a:spAutoFit/>
          </a:bodyPr>
          <a:lstStyle/>
          <a:p>
            <a:pPr algn="l">
              <a:lnSpc>
                <a:spcPct val="95000"/>
              </a:lnSpc>
            </a:pPr>
            <a:r>
              <a:rPr sz="8800" b="1">
                <a:solidFill>
                  <a:srgbClr val="1B1548"/>
                </a:solidFill>
                <a:latin typeface="Arial"/>
              </a:rPr>
              <a:t>Familiars</a:t>
            </a:r>
          </a:p>
        </p:txBody>
      </p:sp>
      <p:sp>
        <p:nvSpPr>
          <p:cNvPr id="5" name="TextBox 4"/>
          <p:cNvSpPr txBox="1"/>
          <p:nvPr/>
        </p:nvSpPr>
        <p:spPr>
          <a:xfrm>
            <a:off x="822960" y="3383280"/>
            <a:ext cx="6035040" cy="1463040"/>
          </a:xfrm>
          <a:prstGeom prst="rect">
            <a:avLst/>
          </a:prstGeom>
          <a:noFill/>
        </p:spPr>
        <p:txBody>
          <a:bodyPr wrap="square" anchor="t" lIns="0" rIns="0" tIns="0" bIns="0">
            <a:spAutoFit/>
          </a:bodyPr>
          <a:lstStyle/>
          <a:p>
            <a:pPr algn="l">
              <a:lnSpc>
                <a:spcPct val="105000"/>
              </a:lnSpc>
            </a:pPr>
            <a:r>
              <a:rPr sz="3400" b="0">
                <a:solidFill>
                  <a:srgbClr val="1B1548"/>
                </a:solidFill>
                <a:latin typeface="Arial"/>
              </a:rPr>
              <a:t>Your familiar meets theirs first.</a:t>
            </a:r>
          </a:p>
        </p:txBody>
      </p:sp>
      <p:sp>
        <p:nvSpPr>
          <p:cNvPr id="6" name="TextBox 5"/>
          <p:cNvSpPr txBox="1"/>
          <p:nvPr/>
        </p:nvSpPr>
        <p:spPr>
          <a:xfrm>
            <a:off x="822960" y="4663440"/>
            <a:ext cx="5669280" cy="1097280"/>
          </a:xfrm>
          <a:prstGeom prst="rect">
            <a:avLst/>
          </a:prstGeom>
          <a:noFill/>
        </p:spPr>
        <p:txBody>
          <a:bodyPr wrap="square" anchor="t" lIns="0" rIns="0" tIns="0" bIns="0">
            <a:spAutoFit/>
          </a:bodyPr>
          <a:lstStyle/>
          <a:p>
            <a:pPr algn="l">
              <a:lnSpc>
                <a:spcPct val="125000"/>
              </a:lnSpc>
            </a:pPr>
            <a:r>
              <a:rPr sz="1800" b="0">
                <a:solidFill>
                  <a:srgbClr val="4B4670"/>
                </a:solidFill>
                <a:latin typeface="Arial"/>
              </a:rPr>
              <a:t>A small creature, hatched from your voice, that introduces you to people and finds you plans.</a:t>
            </a:r>
          </a:p>
        </p:txBody>
      </p:sp>
      <p:pic>
        <p:nvPicPr>
          <p:cNvPr id="7" name="Picture 6" descr="f2.png"/>
          <p:cNvPicPr>
            <a:picLocks noChangeAspect="1"/>
          </p:cNvPicPr>
          <p:nvPr/>
        </p:nvPicPr>
        <p:blipFill>
          <a:blip r:embed="rId3"/>
          <a:stretch>
            <a:fillRect/>
          </a:stretch>
        </p:blipFill>
        <p:spPr>
          <a:xfrm>
            <a:off x="7863840" y="502920"/>
            <a:ext cx="2699411" cy="5852160"/>
          </a:xfrm>
          <a:prstGeom prst="rect">
            <a:avLst/>
          </a:prstGeom>
        </p:spPr>
      </p:pic>
      <p:sp>
        <p:nvSpPr>
          <p:cNvPr id="8" name="Rounded Rectangle 7"/>
          <p:cNvSpPr/>
          <p:nvPr/>
        </p:nvSpPr>
        <p:spPr>
          <a:xfrm>
            <a:off x="822960" y="6144768"/>
            <a:ext cx="3547872"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Horizon</a:t>
            </a:r>
            <a:r>
              <a:rPr sz="1100" b="0">
                <a:solidFill>
                  <a:srgbClr val="4B4670"/>
                </a:solidFill>
                <a:latin typeface="Arial"/>
              </a:rPr>
              <a:t>  0.9B per person, 375B for the world</a:t>
            </a:r>
          </a:p>
        </p:txBody>
      </p:sp>
      <p:sp>
        <p:nvSpPr>
          <p:cNvPr id="9" name="Rounded Rectangle 8"/>
          <p:cNvSpPr/>
          <p:nvPr/>
        </p:nvSpPr>
        <p:spPr>
          <a:xfrm>
            <a:off x="4498848" y="6144768"/>
            <a:ext cx="2494483"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ElevenLabs</a:t>
            </a:r>
            <a:r>
              <a:rPr sz="1100" b="0">
                <a:solidFill>
                  <a:srgbClr val="4B4670"/>
                </a:solidFill>
                <a:latin typeface="Arial"/>
              </a:rPr>
              <a:t>  voice in, voice out</a:t>
            </a:r>
          </a:p>
        </p:txBody>
      </p:sp>
      <p:sp>
        <p:nvSpPr>
          <p:cNvPr id="10" name="Rounded Rectangle 9"/>
          <p:cNvSpPr/>
          <p:nvPr/>
        </p:nvSpPr>
        <p:spPr>
          <a:xfrm>
            <a:off x="7121347" y="6144768"/>
            <a:ext cx="1645920"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Querit</a:t>
            </a:r>
            <a:r>
              <a:rPr sz="1100" b="0">
                <a:solidFill>
                  <a:srgbClr val="4B4670"/>
                </a:solidFill>
                <a:latin typeface="Arial"/>
              </a:rPr>
              <a:t>  real events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64008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THE PROBLEM</a:t>
            </a:r>
          </a:p>
        </p:txBody>
      </p:sp>
      <p:sp>
        <p:nvSpPr>
          <p:cNvPr id="4" name="TextBox 3"/>
          <p:cNvSpPr txBox="1"/>
          <p:nvPr/>
        </p:nvSpPr>
        <p:spPr>
          <a:xfrm>
            <a:off x="822960" y="960120"/>
            <a:ext cx="8229600" cy="1280160"/>
          </a:xfrm>
          <a:prstGeom prst="rect">
            <a:avLst/>
          </a:prstGeom>
          <a:noFill/>
        </p:spPr>
        <p:txBody>
          <a:bodyPr wrap="square" anchor="t" lIns="0" rIns="0" tIns="0" bIns="0">
            <a:spAutoFit/>
          </a:bodyPr>
          <a:lstStyle/>
          <a:p>
            <a:pPr algn="l">
              <a:lnSpc>
                <a:spcPct val="100000"/>
              </a:lnSpc>
            </a:pPr>
            <a:r>
              <a:rPr sz="4000" b="1">
                <a:solidFill>
                  <a:srgbClr val="1B1548"/>
                </a:solidFill>
                <a:latin typeface="Arial"/>
              </a:rPr>
              <a:t>Everyone is in the same room. Nobody sends the first text.</a:t>
            </a:r>
          </a:p>
        </p:txBody>
      </p:sp>
      <p:sp>
        <p:nvSpPr>
          <p:cNvPr id="5" name="TextBox 4"/>
          <p:cNvSpPr txBox="1"/>
          <p:nvPr/>
        </p:nvSpPr>
        <p:spPr>
          <a:xfrm>
            <a:off x="822960" y="2514600"/>
            <a:ext cx="2011680" cy="914400"/>
          </a:xfrm>
          <a:prstGeom prst="rect">
            <a:avLst/>
          </a:prstGeom>
          <a:noFill/>
        </p:spPr>
        <p:txBody>
          <a:bodyPr wrap="square" anchor="t" lIns="0" rIns="0" tIns="0" bIns="0">
            <a:spAutoFit/>
          </a:bodyPr>
          <a:lstStyle/>
          <a:p>
            <a:pPr algn="l">
              <a:lnSpc>
                <a:spcPct val="90000"/>
              </a:lnSpc>
            </a:pPr>
            <a:r>
              <a:rPr sz="5400" b="1">
                <a:solidFill>
                  <a:srgbClr val="6C4DE0"/>
                </a:solidFill>
                <a:latin typeface="Arial"/>
              </a:rPr>
              <a:t>57%</a:t>
            </a:r>
          </a:p>
        </p:txBody>
      </p:sp>
      <p:sp>
        <p:nvSpPr>
          <p:cNvPr id="6" name="TextBox 5"/>
          <p:cNvSpPr txBox="1"/>
          <p:nvPr/>
        </p:nvSpPr>
        <p:spPr>
          <a:xfrm>
            <a:off x="2926079" y="2624328"/>
            <a:ext cx="3383280" cy="1097280"/>
          </a:xfrm>
          <a:prstGeom prst="rect">
            <a:avLst/>
          </a:prstGeom>
          <a:noFill/>
        </p:spPr>
        <p:txBody>
          <a:bodyPr wrap="square" anchor="t" lIns="0" rIns="0" tIns="0" bIns="0">
            <a:spAutoFit/>
          </a:bodyPr>
          <a:lstStyle/>
          <a:p>
            <a:pPr algn="l">
              <a:lnSpc>
                <a:spcPct val="120000"/>
              </a:lnSpc>
            </a:pPr>
            <a:r>
              <a:rPr sz="1600" b="0">
                <a:solidFill>
                  <a:srgbClr val="1B1548"/>
                </a:solidFill>
                <a:latin typeface="Arial"/>
              </a:rPr>
              <a:t>of 44,000 US college students report loneliness.</a:t>
            </a:r>
          </a:p>
          <a:p>
            <a:pPr algn="l">
              <a:lnSpc>
                <a:spcPct val="120000"/>
              </a:lnSpc>
            </a:pPr>
            <a:r>
              <a:rPr sz="1100" b="0">
                <a:solidFill>
                  <a:srgbClr val="8A86AA"/>
                </a:solidFill>
                <a:latin typeface="Arial"/>
              </a:rPr>
              <a:t>Trellis, 2024</a:t>
            </a:r>
          </a:p>
        </p:txBody>
      </p:sp>
      <p:sp>
        <p:nvSpPr>
          <p:cNvPr id="7" name="TextBox 6"/>
          <p:cNvSpPr txBox="1"/>
          <p:nvPr/>
        </p:nvSpPr>
        <p:spPr>
          <a:xfrm>
            <a:off x="6492240" y="2514600"/>
            <a:ext cx="2011680" cy="914400"/>
          </a:xfrm>
          <a:prstGeom prst="rect">
            <a:avLst/>
          </a:prstGeom>
          <a:noFill/>
        </p:spPr>
        <p:txBody>
          <a:bodyPr wrap="square" anchor="t" lIns="0" rIns="0" tIns="0" bIns="0">
            <a:spAutoFit/>
          </a:bodyPr>
          <a:lstStyle/>
          <a:p>
            <a:pPr algn="l">
              <a:lnSpc>
                <a:spcPct val="90000"/>
              </a:lnSpc>
            </a:pPr>
            <a:r>
              <a:rPr sz="5400" b="1">
                <a:solidFill>
                  <a:srgbClr val="6C4DE0"/>
                </a:solidFill>
                <a:latin typeface="Arial"/>
              </a:rPr>
              <a:t>65%</a:t>
            </a:r>
          </a:p>
        </p:txBody>
      </p:sp>
      <p:sp>
        <p:nvSpPr>
          <p:cNvPr id="8" name="TextBox 7"/>
          <p:cNvSpPr txBox="1"/>
          <p:nvPr/>
        </p:nvSpPr>
        <p:spPr>
          <a:xfrm>
            <a:off x="8595360" y="2624328"/>
            <a:ext cx="3383280" cy="1097280"/>
          </a:xfrm>
          <a:prstGeom prst="rect">
            <a:avLst/>
          </a:prstGeom>
          <a:noFill/>
        </p:spPr>
        <p:txBody>
          <a:bodyPr wrap="square" anchor="t" lIns="0" rIns="0" tIns="0" bIns="0">
            <a:spAutoFit/>
          </a:bodyPr>
          <a:lstStyle/>
          <a:p>
            <a:pPr algn="l">
              <a:lnSpc>
                <a:spcPct val="120000"/>
              </a:lnSpc>
            </a:pPr>
            <a:r>
              <a:rPr sz="1600" b="0">
                <a:solidFill>
                  <a:srgbClr val="1B1548"/>
                </a:solidFill>
                <a:latin typeface="Arial"/>
              </a:rPr>
              <a:t>of students lonely in the latest national survey.</a:t>
            </a:r>
          </a:p>
          <a:p>
            <a:pPr algn="l">
              <a:lnSpc>
                <a:spcPct val="120000"/>
              </a:lnSpc>
            </a:pPr>
            <a:r>
              <a:rPr sz="1100" b="0">
                <a:solidFill>
                  <a:srgbClr val="8A86AA"/>
                </a:solidFill>
                <a:latin typeface="Arial"/>
              </a:rPr>
              <a:t>Active Minds · TimelyCare, 2025</a:t>
            </a:r>
          </a:p>
        </p:txBody>
      </p:sp>
      <p:sp>
        <p:nvSpPr>
          <p:cNvPr id="9" name="TextBox 8"/>
          <p:cNvSpPr txBox="1"/>
          <p:nvPr/>
        </p:nvSpPr>
        <p:spPr>
          <a:xfrm>
            <a:off x="822960" y="4251960"/>
            <a:ext cx="2011680" cy="914400"/>
          </a:xfrm>
          <a:prstGeom prst="rect">
            <a:avLst/>
          </a:prstGeom>
          <a:noFill/>
        </p:spPr>
        <p:txBody>
          <a:bodyPr wrap="square" anchor="t" lIns="0" rIns="0" tIns="0" bIns="0">
            <a:spAutoFit/>
          </a:bodyPr>
          <a:lstStyle/>
          <a:p>
            <a:pPr algn="l">
              <a:lnSpc>
                <a:spcPct val="90000"/>
              </a:lnSpc>
            </a:pPr>
            <a:r>
              <a:rPr sz="5400" b="1">
                <a:solidFill>
                  <a:srgbClr val="6C4DE0"/>
                </a:solidFill>
                <a:latin typeface="Arial"/>
              </a:rPr>
              <a:t>70M</a:t>
            </a:r>
          </a:p>
        </p:txBody>
      </p:sp>
      <p:sp>
        <p:nvSpPr>
          <p:cNvPr id="10" name="TextBox 9"/>
          <p:cNvSpPr txBox="1"/>
          <p:nvPr/>
        </p:nvSpPr>
        <p:spPr>
          <a:xfrm>
            <a:off x="2926079" y="4361688"/>
            <a:ext cx="3383280" cy="1097280"/>
          </a:xfrm>
          <a:prstGeom prst="rect">
            <a:avLst/>
          </a:prstGeom>
          <a:noFill/>
        </p:spPr>
        <p:txBody>
          <a:bodyPr wrap="square" anchor="t" lIns="0" rIns="0" tIns="0" bIns="0">
            <a:spAutoFit/>
          </a:bodyPr>
          <a:lstStyle/>
          <a:p>
            <a:pPr algn="l">
              <a:lnSpc>
                <a:spcPct val="120000"/>
              </a:lnSpc>
            </a:pPr>
            <a:r>
              <a:rPr sz="1600" b="0">
                <a:solidFill>
                  <a:srgbClr val="1B1548"/>
                </a:solidFill>
                <a:latin typeface="Arial"/>
              </a:rPr>
              <a:t>daily users at BeReal’s peak. A photo had nothing to say.</a:t>
            </a:r>
          </a:p>
          <a:p>
            <a:pPr algn="l">
              <a:lnSpc>
                <a:spcPct val="120000"/>
              </a:lnSpc>
            </a:pPr>
            <a:r>
              <a:rPr sz="1100" b="0">
                <a:solidFill>
                  <a:srgbClr val="8A86AA"/>
                </a:solidFill>
                <a:latin typeface="Arial"/>
              </a:rPr>
              <a:t>down to ~3M by 2025</a:t>
            </a:r>
          </a:p>
        </p:txBody>
      </p:sp>
      <p:sp>
        <p:nvSpPr>
          <p:cNvPr id="11" name="TextBox 10"/>
          <p:cNvSpPr txBox="1"/>
          <p:nvPr/>
        </p:nvSpPr>
        <p:spPr>
          <a:xfrm>
            <a:off x="6492240" y="4251960"/>
            <a:ext cx="2011680" cy="914400"/>
          </a:xfrm>
          <a:prstGeom prst="rect">
            <a:avLst/>
          </a:prstGeom>
          <a:noFill/>
        </p:spPr>
        <p:txBody>
          <a:bodyPr wrap="square" anchor="t" lIns="0" rIns="0" tIns="0" bIns="0">
            <a:spAutoFit/>
          </a:bodyPr>
          <a:lstStyle/>
          <a:p>
            <a:pPr algn="l">
              <a:lnSpc>
                <a:spcPct val="90000"/>
              </a:lnSpc>
            </a:pPr>
            <a:r>
              <a:rPr sz="5400" b="1">
                <a:solidFill>
                  <a:srgbClr val="6C4DE0"/>
                </a:solidFill>
                <a:latin typeface="Arial"/>
              </a:rPr>
              <a:t>76%</a:t>
            </a:r>
          </a:p>
        </p:txBody>
      </p:sp>
      <p:sp>
        <p:nvSpPr>
          <p:cNvPr id="12" name="TextBox 11"/>
          <p:cNvSpPr txBox="1"/>
          <p:nvPr/>
        </p:nvSpPr>
        <p:spPr>
          <a:xfrm>
            <a:off x="8595360" y="4361688"/>
            <a:ext cx="3383280" cy="1097280"/>
          </a:xfrm>
          <a:prstGeom prst="rect">
            <a:avLst/>
          </a:prstGeom>
          <a:noFill/>
        </p:spPr>
        <p:txBody>
          <a:bodyPr wrap="square" anchor="t" lIns="0" rIns="0" tIns="0" bIns="0">
            <a:spAutoFit/>
          </a:bodyPr>
          <a:lstStyle/>
          <a:p>
            <a:pPr algn="l">
              <a:lnSpc>
                <a:spcPct val="120000"/>
              </a:lnSpc>
            </a:pPr>
            <a:r>
              <a:rPr sz="1600" b="0">
                <a:solidFill>
                  <a:srgbClr val="1B1548"/>
                </a:solidFill>
                <a:latin typeface="Arial"/>
              </a:rPr>
              <a:t>of group plans never leave the chat.</a:t>
            </a:r>
          </a:p>
          <a:p>
            <a:pPr algn="l">
              <a:lnSpc>
                <a:spcPct val="120000"/>
              </a:lnSpc>
            </a:pPr>
            <a:r>
              <a:rPr sz="1100" b="0">
                <a:solidFill>
                  <a:srgbClr val="8A86AA"/>
                </a:solidFill>
                <a:latin typeface="Arial"/>
              </a:rPr>
              <a:t>83 messages for the ones that do</a:t>
            </a:r>
          </a:p>
        </p:txBody>
      </p:sp>
      <p:sp>
        <p:nvSpPr>
          <p:cNvPr id="13" name="TextBox 12"/>
          <p:cNvSpPr txBox="1"/>
          <p:nvPr/>
        </p:nvSpPr>
        <p:spPr>
          <a:xfrm>
            <a:off x="822960" y="5943600"/>
            <a:ext cx="10058400" cy="365760"/>
          </a:xfrm>
          <a:prstGeom prst="rect">
            <a:avLst/>
          </a:prstGeom>
          <a:noFill/>
        </p:spPr>
        <p:txBody>
          <a:bodyPr wrap="square" anchor="t" lIns="0" rIns="0" tIns="0" bIns="0">
            <a:spAutoFit/>
          </a:bodyPr>
          <a:lstStyle/>
          <a:p>
            <a:pPr algn="l">
              <a:lnSpc>
                <a:spcPct val="110000"/>
              </a:lnSpc>
            </a:pPr>
            <a:r>
              <a:rPr sz="1200" b="0">
                <a:solidFill>
                  <a:srgbClr val="8A86AA"/>
                </a:solidFill>
                <a:latin typeface="Arial"/>
              </a:rPr>
              <a:t>“You can get a meal without talking to another human.” · The Tartan, CMU, 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64008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THE IDEA</a:t>
            </a:r>
          </a:p>
        </p:txBody>
      </p:sp>
      <p:sp>
        <p:nvSpPr>
          <p:cNvPr id="4" name="TextBox 3"/>
          <p:cNvSpPr txBox="1"/>
          <p:nvPr/>
        </p:nvSpPr>
        <p:spPr>
          <a:xfrm>
            <a:off x="822960" y="960120"/>
            <a:ext cx="7132320" cy="1280160"/>
          </a:xfrm>
          <a:prstGeom prst="rect">
            <a:avLst/>
          </a:prstGeom>
          <a:noFill/>
        </p:spPr>
        <p:txBody>
          <a:bodyPr wrap="square" anchor="t" lIns="0" rIns="0" tIns="0" bIns="0">
            <a:spAutoFit/>
          </a:bodyPr>
          <a:lstStyle/>
          <a:p>
            <a:pPr algn="l">
              <a:lnSpc>
                <a:spcPct val="100000"/>
              </a:lnSpc>
            </a:pPr>
            <a:r>
              <a:rPr sz="4600" b="1">
                <a:solidFill>
                  <a:srgbClr val="1B1548"/>
                </a:solidFill>
                <a:latin typeface="Arial"/>
              </a:rPr>
              <a:t>Manufacture the introduction.</a:t>
            </a:r>
          </a:p>
        </p:txBody>
      </p:sp>
      <p:sp>
        <p:nvSpPr>
          <p:cNvPr id="5" name="TextBox 4"/>
          <p:cNvSpPr txBox="1"/>
          <p:nvPr/>
        </p:nvSpPr>
        <p:spPr>
          <a:xfrm>
            <a:off x="822960" y="2788920"/>
            <a:ext cx="6309360" cy="2743200"/>
          </a:xfrm>
          <a:prstGeom prst="rect">
            <a:avLst/>
          </a:prstGeom>
          <a:noFill/>
        </p:spPr>
        <p:txBody>
          <a:bodyPr wrap="square" anchor="t" lIns="0" rIns="0" tIns="0" bIns="0">
            <a:spAutoFit/>
          </a:bodyPr>
          <a:lstStyle/>
          <a:p>
            <a:pPr algn="l">
              <a:lnSpc>
                <a:spcPct val="125000"/>
              </a:lnSpc>
            </a:pPr>
            <a:r>
              <a:rPr sz="2200" b="0">
                <a:solidFill>
                  <a:srgbClr val="4B4670"/>
                </a:solidFill>
                <a:latin typeface="Arial"/>
              </a:rPr>
              <a:t>Each person gets a familiar: a small model that runs locally, on their side, and knows only them.</a:t>
            </a:r>
          </a:p>
          <a:p>
            <a:pPr algn="l">
              <a:lnSpc>
                <a:spcPct val="125000"/>
              </a:lnSpc>
            </a:pPr>
            <a:r>
              <a:rPr sz="1000" b="0">
                <a:solidFill>
                  <a:srgbClr val="4B4670"/>
                </a:solidFill>
                <a:latin typeface="Arial"/>
              </a:rPr>
              <a:t/>
            </a:r>
          </a:p>
          <a:p>
            <a:pPr algn="l">
              <a:lnSpc>
                <a:spcPct val="125000"/>
              </a:lnSpc>
            </a:pPr>
            <a:r>
              <a:rPr sz="2200" b="1">
                <a:solidFill>
                  <a:srgbClr val="1B1548"/>
                </a:solidFill>
                <a:latin typeface="Arial"/>
              </a:rPr>
              <a:t>Two familiars meet first. You get one line worth saying.</a:t>
            </a:r>
          </a:p>
        </p:txBody>
      </p:sp>
      <p:pic>
        <p:nvPicPr>
          <p:cNvPr id="6" name="Picture 5" descr="f5.png"/>
          <p:cNvPicPr>
            <a:picLocks noChangeAspect="1"/>
          </p:cNvPicPr>
          <p:nvPr/>
        </p:nvPicPr>
        <p:blipFill>
          <a:blip r:embed="rId3"/>
          <a:stretch>
            <a:fillRect/>
          </a:stretch>
        </p:blipFill>
        <p:spPr>
          <a:xfrm>
            <a:off x="7680960" y="457200"/>
            <a:ext cx="2530698" cy="5486400"/>
          </a:xfrm>
          <a:prstGeom prst="rect">
            <a:avLst/>
          </a:prstGeom>
        </p:spPr>
      </p:pic>
      <p:sp>
        <p:nvSpPr>
          <p:cNvPr id="7" name="Rounded Rectangle 6"/>
          <p:cNvSpPr/>
          <p:nvPr/>
        </p:nvSpPr>
        <p:spPr>
          <a:xfrm>
            <a:off x="822960" y="6144768"/>
            <a:ext cx="4081881"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Horizon 0.9B</a:t>
            </a:r>
            <a:r>
              <a:rPr sz="1100" b="0">
                <a:solidFill>
                  <a:srgbClr val="4B4670"/>
                </a:solidFill>
                <a:latin typeface="Arial"/>
              </a:rPr>
              <a:t>  one per person, local, your own agent</a:t>
            </a:r>
          </a:p>
        </p:txBody>
      </p:sp>
      <p:sp>
        <p:nvSpPr>
          <p:cNvPr id="8" name="Rounded Rectangle 7"/>
          <p:cNvSpPr/>
          <p:nvPr/>
        </p:nvSpPr>
        <p:spPr>
          <a:xfrm>
            <a:off x="5032857" y="6144768"/>
            <a:ext cx="4411065"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Horizon 375B</a:t>
            </a:r>
            <a:r>
              <a:rPr sz="1100" b="0">
                <a:solidFill>
                  <a:srgbClr val="4B4670"/>
                </a:solidFill>
                <a:latin typeface="Arial"/>
              </a:rPr>
              <a:t>  the shared world: matching, intros, recaps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50292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1 · HATCH</a:t>
            </a:r>
          </a:p>
        </p:txBody>
      </p:sp>
      <p:sp>
        <p:nvSpPr>
          <p:cNvPr id="4" name="TextBox 3"/>
          <p:cNvSpPr txBox="1"/>
          <p:nvPr/>
        </p:nvSpPr>
        <p:spPr>
          <a:xfrm>
            <a:off x="822960" y="731520"/>
            <a:ext cx="7315200" cy="1005840"/>
          </a:xfrm>
          <a:prstGeom prst="rect">
            <a:avLst/>
          </a:prstGeom>
          <a:noFill/>
        </p:spPr>
        <p:txBody>
          <a:bodyPr wrap="square" anchor="t" lIns="0" rIns="0" tIns="0" bIns="0">
            <a:spAutoFit/>
          </a:bodyPr>
          <a:lstStyle/>
          <a:p>
            <a:pPr algn="l">
              <a:lnSpc>
                <a:spcPct val="110000"/>
              </a:lnSpc>
            </a:pPr>
            <a:r>
              <a:rPr sz="2800" b="1">
                <a:solidFill>
                  <a:srgbClr val="1B1548"/>
                </a:solidFill>
                <a:latin typeface="Arial"/>
              </a:rPr>
              <a:t>Say who you are. It hatches from that.</a:t>
            </a:r>
          </a:p>
        </p:txBody>
      </p:sp>
      <p:sp>
        <p:nvSpPr>
          <p:cNvPr id="5" name="TextBox 4"/>
          <p:cNvSpPr txBox="1"/>
          <p:nvPr/>
        </p:nvSpPr>
        <p:spPr>
          <a:xfrm>
            <a:off x="8503920" y="822960"/>
            <a:ext cx="3108960" cy="914400"/>
          </a:xfrm>
          <a:prstGeom prst="rect">
            <a:avLst/>
          </a:prstGeom>
          <a:noFill/>
        </p:spPr>
        <p:txBody>
          <a:bodyPr wrap="square" anchor="t" lIns="0" rIns="0" tIns="0" bIns="0">
            <a:spAutoFit/>
          </a:bodyPr>
          <a:lstStyle/>
          <a:p>
            <a:pPr algn="l">
              <a:lnSpc>
                <a:spcPct val="120000"/>
              </a:lnSpc>
            </a:pPr>
            <a:r>
              <a:rPr sz="1300" b="0">
                <a:solidFill>
                  <a:srgbClr val="4B4670"/>
                </a:solidFill>
                <a:latin typeface="Arial"/>
              </a:rPr>
              <a:t>No typing. Name, pronouns, what you make, where you are from: spoken, stuck to the egg, hatched.</a:t>
            </a:r>
          </a:p>
        </p:txBody>
      </p:sp>
      <p:pic>
        <p:nvPicPr>
          <p:cNvPr id="6" name="Picture 5" descr="f1.png"/>
          <p:cNvPicPr>
            <a:picLocks noChangeAspect="1"/>
          </p:cNvPicPr>
          <p:nvPr/>
        </p:nvPicPr>
        <p:blipFill>
          <a:blip r:embed="rId3"/>
          <a:stretch>
            <a:fillRect/>
          </a:stretch>
        </p:blipFill>
        <p:spPr>
          <a:xfrm>
            <a:off x="3932357" y="1691640"/>
            <a:ext cx="2003469" cy="4343400"/>
          </a:xfrm>
          <a:prstGeom prst="rect">
            <a:avLst/>
          </a:prstGeom>
        </p:spPr>
      </p:pic>
      <p:pic>
        <p:nvPicPr>
          <p:cNvPr id="7" name="Picture 6" descr="f2.png"/>
          <p:cNvPicPr>
            <a:picLocks noChangeAspect="1"/>
          </p:cNvPicPr>
          <p:nvPr/>
        </p:nvPicPr>
        <p:blipFill>
          <a:blip r:embed="rId4"/>
          <a:stretch>
            <a:fillRect/>
          </a:stretch>
        </p:blipFill>
        <p:spPr>
          <a:xfrm>
            <a:off x="6255867" y="1691640"/>
            <a:ext cx="2003469" cy="4343400"/>
          </a:xfrm>
          <a:prstGeom prst="rect">
            <a:avLst/>
          </a:prstGeom>
        </p:spPr>
      </p:pic>
      <p:sp>
        <p:nvSpPr>
          <p:cNvPr id="8" name="Rounded Rectangle 7"/>
          <p:cNvSpPr/>
          <p:nvPr/>
        </p:nvSpPr>
        <p:spPr>
          <a:xfrm>
            <a:off x="822960" y="6144768"/>
            <a:ext cx="3716121"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ElevenLabs Scribe</a:t>
            </a:r>
            <a:r>
              <a:rPr sz="1100" b="0">
                <a:solidFill>
                  <a:srgbClr val="4B4670"/>
                </a:solidFill>
                <a:latin typeface="Arial"/>
              </a:rPr>
              <a:t>  speech to text while you talk</a:t>
            </a:r>
          </a:p>
        </p:txBody>
      </p:sp>
      <p:sp>
        <p:nvSpPr>
          <p:cNvPr id="9" name="Rounded Rectangle 8"/>
          <p:cNvSpPr/>
          <p:nvPr/>
        </p:nvSpPr>
        <p:spPr>
          <a:xfrm>
            <a:off x="4667097" y="6144768"/>
            <a:ext cx="3108960"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K2 375B</a:t>
            </a:r>
            <a:r>
              <a:rPr sz="1100" b="0">
                <a:solidFill>
                  <a:srgbClr val="4B4670"/>
                </a:solidFill>
                <a:latin typeface="Arial"/>
              </a:rPr>
              <a:t>  hatches name, keywords, greeting</a:t>
            </a:r>
          </a:p>
        </p:txBody>
      </p:sp>
      <p:sp>
        <p:nvSpPr>
          <p:cNvPr id="10" name="Rounded Rectangle 9"/>
          <p:cNvSpPr/>
          <p:nvPr/>
        </p:nvSpPr>
        <p:spPr>
          <a:xfrm>
            <a:off x="7904073" y="6144768"/>
            <a:ext cx="2713939"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0.9B</a:t>
            </a:r>
            <a:r>
              <a:rPr sz="1100" b="0">
                <a:solidFill>
                  <a:srgbClr val="4B4670"/>
                </a:solidFill>
                <a:latin typeface="Arial"/>
              </a:rPr>
              <a:t>  your familiar from here 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50292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2 · MEET</a:t>
            </a:r>
          </a:p>
        </p:txBody>
      </p:sp>
      <p:sp>
        <p:nvSpPr>
          <p:cNvPr id="4" name="TextBox 3"/>
          <p:cNvSpPr txBox="1"/>
          <p:nvPr/>
        </p:nvSpPr>
        <p:spPr>
          <a:xfrm>
            <a:off x="822960" y="731520"/>
            <a:ext cx="7315200" cy="1005840"/>
          </a:xfrm>
          <a:prstGeom prst="rect">
            <a:avLst/>
          </a:prstGeom>
          <a:noFill/>
        </p:spPr>
        <p:txBody>
          <a:bodyPr wrap="square" anchor="t" lIns="0" rIns="0" tIns="0" bIns="0">
            <a:spAutoFit/>
          </a:bodyPr>
          <a:lstStyle/>
          <a:p>
            <a:pPr algn="l">
              <a:lnSpc>
                <a:spcPct val="110000"/>
              </a:lnSpc>
            </a:pPr>
            <a:r>
              <a:rPr sz="2800" b="1">
                <a:solidFill>
                  <a:srgbClr val="1B1548"/>
                </a:solidFill>
                <a:latin typeface="Arial"/>
              </a:rPr>
              <a:t>Wiggle to cast. Tap to catch.</a:t>
            </a:r>
          </a:p>
        </p:txBody>
      </p:sp>
      <p:sp>
        <p:nvSpPr>
          <p:cNvPr id="5" name="TextBox 4"/>
          <p:cNvSpPr txBox="1"/>
          <p:nvPr/>
        </p:nvSpPr>
        <p:spPr>
          <a:xfrm>
            <a:off x="8503920" y="822960"/>
            <a:ext cx="3108960" cy="914400"/>
          </a:xfrm>
          <a:prstGeom prst="rect">
            <a:avLst/>
          </a:prstGeom>
          <a:noFill/>
        </p:spPr>
        <p:txBody>
          <a:bodyPr wrap="square" anchor="t" lIns="0" rIns="0" tIns="0" bIns="0">
            <a:spAutoFit/>
          </a:bodyPr>
          <a:lstStyle/>
          <a:p>
            <a:pPr algn="l">
              <a:lnSpc>
                <a:spcPct val="120000"/>
              </a:lnSpc>
            </a:pPr>
            <a:r>
              <a:rPr sz="1300" b="0">
                <a:solidFill>
                  <a:srgbClr val="4B4670"/>
                </a:solidFill>
                <a:latin typeface="Arial"/>
              </a:rPr>
              <a:t>One phone wiggles, the other catches. The two familiars talk on a stage and hand you the one thing you share.</a:t>
            </a:r>
          </a:p>
        </p:txBody>
      </p:sp>
      <p:pic>
        <p:nvPicPr>
          <p:cNvPr id="6" name="Picture 5" descr="f3.png"/>
          <p:cNvPicPr>
            <a:picLocks noChangeAspect="1"/>
          </p:cNvPicPr>
          <p:nvPr/>
        </p:nvPicPr>
        <p:blipFill>
          <a:blip r:embed="rId3"/>
          <a:stretch>
            <a:fillRect/>
          </a:stretch>
        </p:blipFill>
        <p:spPr>
          <a:xfrm>
            <a:off x="2770603" y="1691640"/>
            <a:ext cx="2003469" cy="4343400"/>
          </a:xfrm>
          <a:prstGeom prst="rect">
            <a:avLst/>
          </a:prstGeom>
        </p:spPr>
      </p:pic>
      <p:pic>
        <p:nvPicPr>
          <p:cNvPr id="7" name="Picture 6" descr="f4.png"/>
          <p:cNvPicPr>
            <a:picLocks noChangeAspect="1"/>
          </p:cNvPicPr>
          <p:nvPr/>
        </p:nvPicPr>
        <p:blipFill>
          <a:blip r:embed="rId4"/>
          <a:stretch>
            <a:fillRect/>
          </a:stretch>
        </p:blipFill>
        <p:spPr>
          <a:xfrm>
            <a:off x="5094112" y="1691640"/>
            <a:ext cx="2003469" cy="4343400"/>
          </a:xfrm>
          <a:prstGeom prst="rect">
            <a:avLst/>
          </a:prstGeom>
        </p:spPr>
      </p:pic>
      <p:pic>
        <p:nvPicPr>
          <p:cNvPr id="8" name="Picture 7" descr="f5.png"/>
          <p:cNvPicPr>
            <a:picLocks noChangeAspect="1"/>
          </p:cNvPicPr>
          <p:nvPr/>
        </p:nvPicPr>
        <p:blipFill>
          <a:blip r:embed="rId5"/>
          <a:stretch>
            <a:fillRect/>
          </a:stretch>
        </p:blipFill>
        <p:spPr>
          <a:xfrm>
            <a:off x="7417622" y="1691640"/>
            <a:ext cx="2003469" cy="4343400"/>
          </a:xfrm>
          <a:prstGeom prst="rect">
            <a:avLst/>
          </a:prstGeom>
        </p:spPr>
      </p:pic>
      <p:sp>
        <p:nvSpPr>
          <p:cNvPr id="9" name="Rounded Rectangle 8"/>
          <p:cNvSpPr/>
          <p:nvPr/>
        </p:nvSpPr>
        <p:spPr>
          <a:xfrm>
            <a:off x="822960" y="6144768"/>
            <a:ext cx="3445459"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DeviceMotion</a:t>
            </a:r>
            <a:r>
              <a:rPr sz="1100" b="0">
                <a:solidFill>
                  <a:srgbClr val="4B4670"/>
                </a:solidFill>
                <a:latin typeface="Arial"/>
              </a:rPr>
              <a:t>  the wiggle, matched server-side</a:t>
            </a:r>
          </a:p>
        </p:txBody>
      </p:sp>
      <p:sp>
        <p:nvSpPr>
          <p:cNvPr id="10" name="Rounded Rectangle 9"/>
          <p:cNvSpPr/>
          <p:nvPr/>
        </p:nvSpPr>
        <p:spPr>
          <a:xfrm>
            <a:off x="4396435" y="6144768"/>
            <a:ext cx="3430828"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0.9B × 2</a:t>
            </a:r>
            <a:r>
              <a:rPr sz="1100" b="0">
                <a:solidFill>
                  <a:srgbClr val="4B4670"/>
                </a:solidFill>
                <a:latin typeface="Arial"/>
              </a:rPr>
              <a:t>  the two familiars write the duet</a:t>
            </a:r>
          </a:p>
        </p:txBody>
      </p:sp>
      <p:sp>
        <p:nvSpPr>
          <p:cNvPr id="11" name="Rounded Rectangle 10"/>
          <p:cNvSpPr/>
          <p:nvPr/>
        </p:nvSpPr>
        <p:spPr>
          <a:xfrm>
            <a:off x="7955279" y="6144768"/>
            <a:ext cx="2882188"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ElevenLabs TTS</a:t>
            </a:r>
            <a:r>
              <a:rPr sz="1100" b="0">
                <a:solidFill>
                  <a:srgbClr val="4B4670"/>
                </a:solidFill>
                <a:latin typeface="Arial"/>
              </a:rPr>
              <a:t>  a voice per familiar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64008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3 · WEB</a:t>
            </a:r>
          </a:p>
        </p:txBody>
      </p:sp>
      <p:sp>
        <p:nvSpPr>
          <p:cNvPr id="4" name="TextBox 3"/>
          <p:cNvSpPr txBox="1"/>
          <p:nvPr/>
        </p:nvSpPr>
        <p:spPr>
          <a:xfrm>
            <a:off x="822960" y="960120"/>
            <a:ext cx="4754880" cy="1828800"/>
          </a:xfrm>
          <a:prstGeom prst="rect">
            <a:avLst/>
          </a:prstGeom>
          <a:noFill/>
        </p:spPr>
        <p:txBody>
          <a:bodyPr wrap="square" anchor="t" lIns="0" rIns="0" tIns="0" bIns="0">
            <a:spAutoFit/>
          </a:bodyPr>
          <a:lstStyle/>
          <a:p>
            <a:pPr algn="l">
              <a:lnSpc>
                <a:spcPct val="100000"/>
              </a:lnSpc>
            </a:pPr>
            <a:r>
              <a:rPr sz="4000" b="1">
                <a:solidFill>
                  <a:srgbClr val="1B1548"/>
                </a:solidFill>
                <a:latin typeface="Arial"/>
              </a:rPr>
              <a:t>Home is who you have met.</a:t>
            </a:r>
          </a:p>
        </p:txBody>
      </p:sp>
      <p:sp>
        <p:nvSpPr>
          <p:cNvPr id="5" name="TextBox 4"/>
          <p:cNvSpPr txBox="1"/>
          <p:nvPr/>
        </p:nvSpPr>
        <p:spPr>
          <a:xfrm>
            <a:off x="822960" y="2926080"/>
            <a:ext cx="4572000" cy="2743200"/>
          </a:xfrm>
          <a:prstGeom prst="rect">
            <a:avLst/>
          </a:prstGeom>
          <a:noFill/>
        </p:spPr>
        <p:txBody>
          <a:bodyPr wrap="square" anchor="t" lIns="0" rIns="0" tIns="0" bIns="0">
            <a:spAutoFit/>
          </a:bodyPr>
          <a:lstStyle/>
          <a:p>
            <a:pPr algn="l">
              <a:lnSpc>
                <a:spcPct val="125000"/>
              </a:lnSpc>
            </a:pPr>
            <a:r>
              <a:rPr sz="2000" b="0">
                <a:solidFill>
                  <a:srgbClr val="4B4670"/>
                </a:solidFill>
                <a:latin typeface="Arial"/>
              </a:rPr>
              <a:t>People stand in the interests you share. Friends of friends fade upward.</a:t>
            </a:r>
          </a:p>
          <a:p>
            <a:pPr algn="l">
              <a:lnSpc>
                <a:spcPct val="125000"/>
              </a:lnSpc>
            </a:pPr>
            <a:r>
              <a:rPr sz="800" b="0">
                <a:solidFill>
                  <a:srgbClr val="4B4670"/>
                </a:solidFill>
                <a:latin typeface="Arial"/>
              </a:rPr>
              <a:t/>
            </a:r>
          </a:p>
          <a:p>
            <a:pPr algn="l">
              <a:lnSpc>
                <a:spcPct val="125000"/>
              </a:lnSpc>
            </a:pPr>
            <a:r>
              <a:rPr sz="2000" b="0">
                <a:solidFill>
                  <a:srgbClr val="1B1548"/>
                </a:solidFill>
                <a:latin typeface="Arial"/>
              </a:rPr>
              <a:t>The ones you keep missing get an intro carried by a friend’s familiar.</a:t>
            </a:r>
          </a:p>
        </p:txBody>
      </p:sp>
      <p:pic>
        <p:nvPicPr>
          <p:cNvPr id="6" name="Picture 5" descr="f6.png"/>
          <p:cNvPicPr>
            <a:picLocks noChangeAspect="1"/>
          </p:cNvPicPr>
          <p:nvPr/>
        </p:nvPicPr>
        <p:blipFill>
          <a:blip r:embed="rId3"/>
          <a:stretch>
            <a:fillRect/>
          </a:stretch>
        </p:blipFill>
        <p:spPr>
          <a:xfrm>
            <a:off x="6035040" y="457200"/>
            <a:ext cx="2488520" cy="5394960"/>
          </a:xfrm>
          <a:prstGeom prst="rect">
            <a:avLst/>
          </a:prstGeom>
        </p:spPr>
      </p:pic>
      <p:pic>
        <p:nvPicPr>
          <p:cNvPr id="7" name="Picture 6" descr="f7.png"/>
          <p:cNvPicPr>
            <a:picLocks noChangeAspect="1"/>
          </p:cNvPicPr>
          <p:nvPr/>
        </p:nvPicPr>
        <p:blipFill>
          <a:blip r:embed="rId4"/>
          <a:stretch>
            <a:fillRect/>
          </a:stretch>
        </p:blipFill>
        <p:spPr>
          <a:xfrm>
            <a:off x="9052560" y="457200"/>
            <a:ext cx="2488520" cy="5394960"/>
          </a:xfrm>
          <a:prstGeom prst="rect">
            <a:avLst/>
          </a:prstGeom>
        </p:spPr>
      </p:pic>
      <p:sp>
        <p:nvSpPr>
          <p:cNvPr id="8" name="Rounded Rectangle 7"/>
          <p:cNvSpPr/>
          <p:nvPr/>
        </p:nvSpPr>
        <p:spPr>
          <a:xfrm>
            <a:off x="822960" y="6144768"/>
            <a:ext cx="4754880"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K2 375B</a:t>
            </a:r>
            <a:r>
              <a:rPr sz="1100" b="0">
                <a:solidFill>
                  <a:srgbClr val="4B4670"/>
                </a:solidFill>
                <a:latin typeface="Arial"/>
              </a:rPr>
              <a:t>  groups the web by shared interests, writes the intro line</a:t>
            </a:r>
          </a:p>
        </p:txBody>
      </p:sp>
      <p:sp>
        <p:nvSpPr>
          <p:cNvPr id="9" name="Rounded Rectangle 8"/>
          <p:cNvSpPr/>
          <p:nvPr/>
        </p:nvSpPr>
        <p:spPr>
          <a:xfrm>
            <a:off x="5705856" y="6144768"/>
            <a:ext cx="4571999"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Next.js · Vercel · Upstash</a:t>
            </a:r>
            <a:r>
              <a:rPr sz="1100" b="0">
                <a:solidFill>
                  <a:srgbClr val="4B4670"/>
                </a:solidFill>
                <a:latin typeface="Arial"/>
              </a:rPr>
              <a:t>  one shared room for every phone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64008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4 · THE DAILY CAST</a:t>
            </a:r>
          </a:p>
        </p:txBody>
      </p:sp>
      <p:sp>
        <p:nvSpPr>
          <p:cNvPr id="4" name="TextBox 3"/>
          <p:cNvSpPr txBox="1"/>
          <p:nvPr/>
        </p:nvSpPr>
        <p:spPr>
          <a:xfrm>
            <a:off x="822960" y="960120"/>
            <a:ext cx="4937760" cy="1828800"/>
          </a:xfrm>
          <a:prstGeom prst="rect">
            <a:avLst/>
          </a:prstGeom>
          <a:noFill/>
        </p:spPr>
        <p:txBody>
          <a:bodyPr wrap="square" anchor="t" lIns="0" rIns="0" tIns="0" bIns="0">
            <a:spAutoFit/>
          </a:bodyPr>
          <a:lstStyle/>
          <a:p>
            <a:pPr algn="l">
              <a:lnSpc>
                <a:spcPct val="100000"/>
              </a:lnSpc>
            </a:pPr>
            <a:r>
              <a:rPr sz="4000" b="1">
                <a:solidFill>
                  <a:srgbClr val="1B1548"/>
                </a:solidFill>
                <a:latin typeface="Arial"/>
              </a:rPr>
              <a:t>One question a day, in your familiar’s voice.</a:t>
            </a:r>
          </a:p>
        </p:txBody>
      </p:sp>
      <p:sp>
        <p:nvSpPr>
          <p:cNvPr id="5" name="TextBox 4"/>
          <p:cNvSpPr txBox="1"/>
          <p:nvPr/>
        </p:nvSpPr>
        <p:spPr>
          <a:xfrm>
            <a:off x="822960" y="3017520"/>
            <a:ext cx="4754880" cy="2743200"/>
          </a:xfrm>
          <a:prstGeom prst="rect">
            <a:avLst/>
          </a:prstGeom>
          <a:noFill/>
        </p:spPr>
        <p:txBody>
          <a:bodyPr wrap="square" anchor="t" lIns="0" rIns="0" tIns="0" bIns="0">
            <a:spAutoFit/>
          </a:bodyPr>
          <a:lstStyle/>
          <a:p>
            <a:pPr algn="l">
              <a:lnSpc>
                <a:spcPct val="125000"/>
              </a:lnSpc>
            </a:pPr>
            <a:r>
              <a:rPr sz="2000" b="0">
                <a:solidFill>
                  <a:srgbClr val="4B4670"/>
                </a:solidFill>
                <a:latin typeface="Arial"/>
              </a:rPr>
              <a:t>It lands on every phone in the circle at the same second. You look up and talk.</a:t>
            </a:r>
          </a:p>
          <a:p>
            <a:pPr algn="l">
              <a:lnSpc>
                <a:spcPct val="125000"/>
              </a:lnSpc>
            </a:pPr>
            <a:r>
              <a:rPr sz="800" b="0">
                <a:solidFill>
                  <a:srgbClr val="4B4670"/>
                </a:solidFill>
                <a:latin typeface="Arial"/>
              </a:rPr>
              <a:t/>
            </a:r>
          </a:p>
          <a:p>
            <a:pPr algn="l">
              <a:lnSpc>
                <a:spcPct val="125000"/>
              </a:lnSpc>
            </a:pPr>
            <a:r>
              <a:rPr sz="2000" b="0">
                <a:solidFill>
                  <a:srgbClr val="1B1548"/>
                </a:solidFill>
                <a:latin typeface="Arial"/>
              </a:rPr>
              <a:t>Nobody types. The phone listens.</a:t>
            </a:r>
          </a:p>
        </p:txBody>
      </p:sp>
      <p:pic>
        <p:nvPicPr>
          <p:cNvPr id="6" name="Picture 5" descr="f8.png"/>
          <p:cNvPicPr>
            <a:picLocks noChangeAspect="1"/>
          </p:cNvPicPr>
          <p:nvPr/>
        </p:nvPicPr>
        <p:blipFill>
          <a:blip r:embed="rId3"/>
          <a:stretch>
            <a:fillRect/>
          </a:stretch>
        </p:blipFill>
        <p:spPr>
          <a:xfrm>
            <a:off x="6766560" y="457200"/>
            <a:ext cx="2488520" cy="5394960"/>
          </a:xfrm>
          <a:prstGeom prst="rect">
            <a:avLst/>
          </a:prstGeom>
        </p:spPr>
      </p:pic>
      <p:sp>
        <p:nvSpPr>
          <p:cNvPr id="7" name="Rounded Rectangle 6"/>
          <p:cNvSpPr/>
          <p:nvPr/>
        </p:nvSpPr>
        <p:spPr>
          <a:xfrm>
            <a:off x="822960" y="6144768"/>
            <a:ext cx="4096512"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K2 375B</a:t>
            </a:r>
            <a:r>
              <a:rPr sz="1100" b="0">
                <a:solidFill>
                  <a:srgbClr val="4B4670"/>
                </a:solidFill>
                <a:latin typeface="Arial"/>
              </a:rPr>
              <a:t>  writes the question from the circle’s interests</a:t>
            </a:r>
          </a:p>
        </p:txBody>
      </p:sp>
      <p:sp>
        <p:nvSpPr>
          <p:cNvPr id="8" name="Rounded Rectangle 7"/>
          <p:cNvSpPr/>
          <p:nvPr/>
        </p:nvSpPr>
        <p:spPr>
          <a:xfrm>
            <a:off x="5047488" y="6144768"/>
            <a:ext cx="4008729"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ElevenLabs</a:t>
            </a:r>
            <a:r>
              <a:rPr sz="1100" b="0">
                <a:solidFill>
                  <a:srgbClr val="4B4670"/>
                </a:solidFill>
                <a:latin typeface="Arial"/>
              </a:rPr>
              <a:t>  TTS asks it, Scribe listens to the answers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50292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5 · OUT</a:t>
            </a:r>
          </a:p>
        </p:txBody>
      </p:sp>
      <p:sp>
        <p:nvSpPr>
          <p:cNvPr id="4" name="TextBox 3"/>
          <p:cNvSpPr txBox="1"/>
          <p:nvPr/>
        </p:nvSpPr>
        <p:spPr>
          <a:xfrm>
            <a:off x="822960" y="731520"/>
            <a:ext cx="7315200" cy="1005840"/>
          </a:xfrm>
          <a:prstGeom prst="rect">
            <a:avLst/>
          </a:prstGeom>
          <a:noFill/>
        </p:spPr>
        <p:txBody>
          <a:bodyPr wrap="square" anchor="t" lIns="0" rIns="0" tIns="0" bIns="0">
            <a:spAutoFit/>
          </a:bodyPr>
          <a:lstStyle/>
          <a:p>
            <a:pPr algn="l">
              <a:lnSpc>
                <a:spcPct val="110000"/>
              </a:lnSpc>
            </a:pPr>
            <a:r>
              <a:rPr sz="2800" b="1">
                <a:solidFill>
                  <a:srgbClr val="1B1548"/>
                </a:solidFill>
                <a:latin typeface="Arial"/>
              </a:rPr>
              <a:t>Merlin goes out and finds three. Swipe.</a:t>
            </a:r>
          </a:p>
        </p:txBody>
      </p:sp>
      <p:sp>
        <p:nvSpPr>
          <p:cNvPr id="5" name="TextBox 4"/>
          <p:cNvSpPr txBox="1"/>
          <p:nvPr/>
        </p:nvSpPr>
        <p:spPr>
          <a:xfrm>
            <a:off x="8503920" y="822960"/>
            <a:ext cx="3108960" cy="914400"/>
          </a:xfrm>
          <a:prstGeom prst="rect">
            <a:avLst/>
          </a:prstGeom>
          <a:noFill/>
        </p:spPr>
        <p:txBody>
          <a:bodyPr wrap="square" anchor="t" lIns="0" rIns="0" tIns="0" bIns="0">
            <a:spAutoFit/>
          </a:bodyPr>
          <a:lstStyle/>
          <a:p>
            <a:pPr algn="l">
              <a:lnSpc>
                <a:spcPct val="120000"/>
              </a:lnSpc>
            </a:pPr>
            <a:r>
              <a:rPr sz="1300" b="0">
                <a:solidFill>
                  <a:srgbClr val="4B4670"/>
                </a:solidFill>
                <a:latin typeface="Arial"/>
              </a:rPr>
              <a:t>Real events, with the source. When everyone swipes right on the same one, it is a plan.</a:t>
            </a:r>
          </a:p>
        </p:txBody>
      </p:sp>
      <p:pic>
        <p:nvPicPr>
          <p:cNvPr id="6" name="Picture 5" descr="f9.png"/>
          <p:cNvPicPr>
            <a:picLocks noChangeAspect="1"/>
          </p:cNvPicPr>
          <p:nvPr/>
        </p:nvPicPr>
        <p:blipFill>
          <a:blip r:embed="rId3"/>
          <a:stretch>
            <a:fillRect/>
          </a:stretch>
        </p:blipFill>
        <p:spPr>
          <a:xfrm>
            <a:off x="2770603" y="1691640"/>
            <a:ext cx="2003469" cy="4343400"/>
          </a:xfrm>
          <a:prstGeom prst="rect">
            <a:avLst/>
          </a:prstGeom>
        </p:spPr>
      </p:pic>
      <p:pic>
        <p:nvPicPr>
          <p:cNvPr id="7" name="Picture 6" descr="f10.png"/>
          <p:cNvPicPr>
            <a:picLocks noChangeAspect="1"/>
          </p:cNvPicPr>
          <p:nvPr/>
        </p:nvPicPr>
        <p:blipFill>
          <a:blip r:embed="rId4"/>
          <a:stretch>
            <a:fillRect/>
          </a:stretch>
        </p:blipFill>
        <p:spPr>
          <a:xfrm>
            <a:off x="5094112" y="1691640"/>
            <a:ext cx="2003469" cy="4343400"/>
          </a:xfrm>
          <a:prstGeom prst="rect">
            <a:avLst/>
          </a:prstGeom>
        </p:spPr>
      </p:pic>
      <p:pic>
        <p:nvPicPr>
          <p:cNvPr id="8" name="Picture 7" descr="f11.png"/>
          <p:cNvPicPr>
            <a:picLocks noChangeAspect="1"/>
          </p:cNvPicPr>
          <p:nvPr/>
        </p:nvPicPr>
        <p:blipFill>
          <a:blip r:embed="rId5"/>
          <a:stretch>
            <a:fillRect/>
          </a:stretch>
        </p:blipFill>
        <p:spPr>
          <a:xfrm>
            <a:off x="7417622" y="1691640"/>
            <a:ext cx="2003469" cy="4343400"/>
          </a:xfrm>
          <a:prstGeom prst="rect">
            <a:avLst/>
          </a:prstGeom>
        </p:spPr>
      </p:pic>
      <p:sp>
        <p:nvSpPr>
          <p:cNvPr id="9" name="Rounded Rectangle 8"/>
          <p:cNvSpPr/>
          <p:nvPr/>
        </p:nvSpPr>
        <p:spPr>
          <a:xfrm>
            <a:off x="822960" y="6144768"/>
            <a:ext cx="3621024"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Querit</a:t>
            </a:r>
            <a:r>
              <a:rPr sz="1100" b="0">
                <a:solidFill>
                  <a:srgbClr val="4B4670"/>
                </a:solidFill>
                <a:latin typeface="Arial"/>
              </a:rPr>
              <a:t>  web search and page fetch for real events</a:t>
            </a:r>
          </a:p>
        </p:txBody>
      </p:sp>
      <p:sp>
        <p:nvSpPr>
          <p:cNvPr id="10" name="Rounded Rectangle 9"/>
          <p:cNvSpPr/>
          <p:nvPr/>
        </p:nvSpPr>
        <p:spPr>
          <a:xfrm>
            <a:off x="4572000" y="6144768"/>
            <a:ext cx="4425696"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K2 375B</a:t>
            </a:r>
            <a:r>
              <a:rPr sz="1100" b="0">
                <a:solidFill>
                  <a:srgbClr val="4B4670"/>
                </a:solidFill>
                <a:latin typeface="Arial"/>
              </a:rPr>
              <a:t>  plans the queries, extracts the facts, never invents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64008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6 · EVERY NIGHT</a:t>
            </a:r>
          </a:p>
        </p:txBody>
      </p:sp>
      <p:sp>
        <p:nvSpPr>
          <p:cNvPr id="4" name="TextBox 3"/>
          <p:cNvSpPr txBox="1"/>
          <p:nvPr/>
        </p:nvSpPr>
        <p:spPr>
          <a:xfrm>
            <a:off x="822960" y="960120"/>
            <a:ext cx="5120640" cy="1828800"/>
          </a:xfrm>
          <a:prstGeom prst="rect">
            <a:avLst/>
          </a:prstGeom>
          <a:noFill/>
        </p:spPr>
        <p:txBody>
          <a:bodyPr wrap="square" anchor="t" lIns="0" rIns="0" tIns="0" bIns="0">
            <a:spAutoFit/>
          </a:bodyPr>
          <a:lstStyle/>
          <a:p>
            <a:pPr algn="l">
              <a:lnSpc>
                <a:spcPct val="100000"/>
              </a:lnSpc>
            </a:pPr>
            <a:r>
              <a:rPr sz="4000" b="1">
                <a:solidFill>
                  <a:srgbClr val="1B1548"/>
                </a:solidFill>
                <a:latin typeface="Arial"/>
              </a:rPr>
              <a:t>Your familiar tells you the story.</a:t>
            </a:r>
          </a:p>
        </p:txBody>
      </p:sp>
      <p:sp>
        <p:nvSpPr>
          <p:cNvPr id="5" name="TextBox 4"/>
          <p:cNvSpPr txBox="1"/>
          <p:nvPr/>
        </p:nvSpPr>
        <p:spPr>
          <a:xfrm>
            <a:off x="822960" y="2926080"/>
            <a:ext cx="4754880" cy="2011680"/>
          </a:xfrm>
          <a:prstGeom prst="rect">
            <a:avLst/>
          </a:prstGeom>
          <a:noFill/>
        </p:spPr>
        <p:txBody>
          <a:bodyPr wrap="square" anchor="t" lIns="0" rIns="0" tIns="0" bIns="0">
            <a:spAutoFit/>
          </a:bodyPr>
          <a:lstStyle/>
          <a:p>
            <a:pPr algn="l">
              <a:lnSpc>
                <a:spcPct val="125000"/>
              </a:lnSpc>
            </a:pPr>
            <a:r>
              <a:rPr sz="2000" b="0">
                <a:solidFill>
                  <a:srgbClr val="4B4670"/>
                </a:solidFill>
                <a:latin typeface="Arial"/>
              </a:rPr>
              <a:t>Who it met, the line that worked, and the person who was two tables away all night.</a:t>
            </a:r>
          </a:p>
        </p:txBody>
      </p:sp>
      <p:pic>
        <p:nvPicPr>
          <p:cNvPr id="6" name="Picture 5" descr="f12.png"/>
          <p:cNvPicPr>
            <a:picLocks noChangeAspect="1"/>
          </p:cNvPicPr>
          <p:nvPr/>
        </p:nvPicPr>
        <p:blipFill>
          <a:blip r:embed="rId3"/>
          <a:stretch>
            <a:fillRect/>
          </a:stretch>
        </p:blipFill>
        <p:spPr>
          <a:xfrm>
            <a:off x="6035040" y="457200"/>
            <a:ext cx="2488520" cy="5394960"/>
          </a:xfrm>
          <a:prstGeom prst="rect">
            <a:avLst/>
          </a:prstGeom>
        </p:spPr>
      </p:pic>
      <p:pic>
        <p:nvPicPr>
          <p:cNvPr id="7" name="Picture 6" descr="f13.png"/>
          <p:cNvPicPr>
            <a:picLocks noChangeAspect="1"/>
          </p:cNvPicPr>
          <p:nvPr/>
        </p:nvPicPr>
        <p:blipFill>
          <a:blip r:embed="rId4"/>
          <a:stretch>
            <a:fillRect/>
          </a:stretch>
        </p:blipFill>
        <p:spPr>
          <a:xfrm>
            <a:off x="9052560" y="457200"/>
            <a:ext cx="2488520" cy="5394960"/>
          </a:xfrm>
          <a:prstGeom prst="rect">
            <a:avLst/>
          </a:prstGeom>
        </p:spPr>
      </p:pic>
      <p:sp>
        <p:nvSpPr>
          <p:cNvPr id="8" name="Rounded Rectangle 7"/>
          <p:cNvSpPr/>
          <p:nvPr/>
        </p:nvSpPr>
        <p:spPr>
          <a:xfrm>
            <a:off x="822960" y="6144768"/>
            <a:ext cx="3306470"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K2 375B</a:t>
            </a:r>
            <a:r>
              <a:rPr sz="1100" b="0">
                <a:solidFill>
                  <a:srgbClr val="4B4670"/>
                </a:solidFill>
                <a:latin typeface="Arial"/>
              </a:rPr>
              <a:t>  writes the recap from the day’s web</a:t>
            </a:r>
          </a:p>
        </p:txBody>
      </p:sp>
      <p:sp>
        <p:nvSpPr>
          <p:cNvPr id="9" name="Rounded Rectangle 8"/>
          <p:cNvSpPr/>
          <p:nvPr/>
        </p:nvSpPr>
        <p:spPr>
          <a:xfrm>
            <a:off x="4257446" y="6144768"/>
            <a:ext cx="3013862"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ElevenLabs TTS</a:t>
            </a:r>
            <a:r>
              <a:rPr sz="1100" b="0">
                <a:solidFill>
                  <a:srgbClr val="4B4670"/>
                </a:solidFill>
                <a:latin typeface="Arial"/>
              </a:rPr>
              <a:t>  your familiar tells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50292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THE ROOM</a:t>
            </a:r>
          </a:p>
        </p:txBody>
      </p:sp>
      <p:sp>
        <p:nvSpPr>
          <p:cNvPr id="4" name="TextBox 3"/>
          <p:cNvSpPr txBox="1"/>
          <p:nvPr/>
        </p:nvSpPr>
        <p:spPr>
          <a:xfrm>
            <a:off x="822960" y="731520"/>
            <a:ext cx="8229600" cy="914400"/>
          </a:xfrm>
          <a:prstGeom prst="rect">
            <a:avLst/>
          </a:prstGeom>
          <a:noFill/>
        </p:spPr>
        <p:txBody>
          <a:bodyPr wrap="square" anchor="t" lIns="0" rIns="0" tIns="0" bIns="0">
            <a:spAutoFit/>
          </a:bodyPr>
          <a:lstStyle/>
          <a:p>
            <a:pPr algn="l">
              <a:lnSpc>
                <a:spcPct val="110000"/>
              </a:lnSpc>
            </a:pPr>
            <a:r>
              <a:rPr sz="2800" b="1">
                <a:solidFill>
                  <a:srgbClr val="1B1548"/>
                </a:solidFill>
                <a:latin typeface="Arial"/>
              </a:rPr>
              <a:t>The projector shows the web growing.</a:t>
            </a:r>
          </a:p>
        </p:txBody>
      </p:sp>
      <p:pic>
        <p:nvPicPr>
          <p:cNvPr id="5" name="Picture 4" descr="f14.png"/>
          <p:cNvPicPr>
            <a:picLocks noChangeAspect="1"/>
          </p:cNvPicPr>
          <p:nvPr/>
        </p:nvPicPr>
        <p:blipFill>
          <a:blip r:embed="rId3"/>
          <a:stretch>
            <a:fillRect/>
          </a:stretch>
        </p:blipFill>
        <p:spPr>
          <a:xfrm>
            <a:off x="1965960" y="1371600"/>
            <a:ext cx="8229600" cy="4626640"/>
          </a:xfrm>
          <a:prstGeom prst="rect">
            <a:avLst/>
          </a:prstGeom>
        </p:spPr>
      </p:pic>
      <p:sp>
        <p:nvSpPr>
          <p:cNvPr id="6" name="Rounded Rectangle 5"/>
          <p:cNvSpPr/>
          <p:nvPr/>
        </p:nvSpPr>
        <p:spPr>
          <a:xfrm>
            <a:off x="822960" y="6263640"/>
            <a:ext cx="4294022"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Upstash</a:t>
            </a:r>
            <a:r>
              <a:rPr sz="1100" b="0">
                <a:solidFill>
                  <a:srgbClr val="4B4670"/>
                </a:solidFill>
                <a:latin typeface="Arial"/>
              </a:rPr>
              <a:t>  one shared state for every phone and the projector</a:t>
            </a:r>
          </a:p>
        </p:txBody>
      </p:sp>
      <p:sp>
        <p:nvSpPr>
          <p:cNvPr id="7" name="Rounded Rectangle 6"/>
          <p:cNvSpPr/>
          <p:nvPr/>
        </p:nvSpPr>
        <p:spPr>
          <a:xfrm>
            <a:off x="5244998" y="6263640"/>
            <a:ext cx="3979468"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Next.js on Vercel</a:t>
            </a:r>
            <a:r>
              <a:rPr sz="1100" b="0">
                <a:solidFill>
                  <a:srgbClr val="4B4670"/>
                </a:solidFill>
                <a:latin typeface="Arial"/>
              </a:rPr>
              <a:t>  polling rooms, nothing to install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64008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WHY MULTIPLAYER</a:t>
            </a:r>
          </a:p>
        </p:txBody>
      </p:sp>
      <p:sp>
        <p:nvSpPr>
          <p:cNvPr id="4" name="TextBox 3"/>
          <p:cNvSpPr txBox="1"/>
          <p:nvPr/>
        </p:nvSpPr>
        <p:spPr>
          <a:xfrm>
            <a:off x="822960" y="960120"/>
            <a:ext cx="6400800" cy="1280160"/>
          </a:xfrm>
          <a:prstGeom prst="rect">
            <a:avLst/>
          </a:prstGeom>
          <a:noFill/>
        </p:spPr>
        <p:txBody>
          <a:bodyPr wrap="square" anchor="t" lIns="0" rIns="0" tIns="0" bIns="0">
            <a:spAutoFit/>
          </a:bodyPr>
          <a:lstStyle/>
          <a:p>
            <a:pPr algn="l">
              <a:lnSpc>
                <a:spcPct val="100000"/>
              </a:lnSpc>
            </a:pPr>
            <a:r>
              <a:rPr sz="4000" b="1">
                <a:solidFill>
                  <a:srgbClr val="1B1548"/>
                </a:solidFill>
                <a:latin typeface="Arial"/>
              </a:rPr>
              <a:t>Nothing here works with one phone.</a:t>
            </a:r>
          </a:p>
        </p:txBody>
      </p:sp>
      <p:sp>
        <p:nvSpPr>
          <p:cNvPr id="5" name="TextBox 4"/>
          <p:cNvSpPr txBox="1"/>
          <p:nvPr/>
        </p:nvSpPr>
        <p:spPr>
          <a:xfrm>
            <a:off x="822960" y="2743200"/>
            <a:ext cx="2194560" cy="457200"/>
          </a:xfrm>
          <a:prstGeom prst="rect">
            <a:avLst/>
          </a:prstGeom>
          <a:noFill/>
        </p:spPr>
        <p:txBody>
          <a:bodyPr wrap="square" anchor="t" lIns="0" rIns="0" tIns="0" bIns="0">
            <a:spAutoFit/>
          </a:bodyPr>
          <a:lstStyle/>
          <a:p>
            <a:pPr algn="l">
              <a:lnSpc>
                <a:spcPct val="110000"/>
              </a:lnSpc>
            </a:pPr>
            <a:r>
              <a:rPr sz="2000" b="1">
                <a:solidFill>
                  <a:srgbClr val="6C4DE0"/>
                </a:solidFill>
                <a:latin typeface="Arial"/>
              </a:rPr>
              <a:t>The wiggle</a:t>
            </a:r>
          </a:p>
        </p:txBody>
      </p:sp>
      <p:sp>
        <p:nvSpPr>
          <p:cNvPr id="6" name="TextBox 5"/>
          <p:cNvSpPr txBox="1"/>
          <p:nvPr/>
        </p:nvSpPr>
        <p:spPr>
          <a:xfrm>
            <a:off x="3017520" y="2743200"/>
            <a:ext cx="4572000" cy="457200"/>
          </a:xfrm>
          <a:prstGeom prst="rect">
            <a:avLst/>
          </a:prstGeom>
          <a:noFill/>
        </p:spPr>
        <p:txBody>
          <a:bodyPr wrap="square" anchor="t" lIns="0" rIns="0" tIns="0" bIns="0">
            <a:spAutoFit/>
          </a:bodyPr>
          <a:lstStyle/>
          <a:p>
            <a:pPr algn="l">
              <a:lnSpc>
                <a:spcPct val="110000"/>
              </a:lnSpc>
            </a:pPr>
            <a:r>
              <a:rPr sz="2000" b="0">
                <a:solidFill>
                  <a:srgbClr val="4B4670"/>
                </a:solidFill>
                <a:latin typeface="Arial"/>
              </a:rPr>
              <a:t>needs the other phone to catch.</a:t>
            </a:r>
          </a:p>
        </p:txBody>
      </p:sp>
      <p:sp>
        <p:nvSpPr>
          <p:cNvPr id="7" name="TextBox 6"/>
          <p:cNvSpPr txBox="1"/>
          <p:nvPr/>
        </p:nvSpPr>
        <p:spPr>
          <a:xfrm>
            <a:off x="822960" y="3401568"/>
            <a:ext cx="2194560" cy="457200"/>
          </a:xfrm>
          <a:prstGeom prst="rect">
            <a:avLst/>
          </a:prstGeom>
          <a:noFill/>
        </p:spPr>
        <p:txBody>
          <a:bodyPr wrap="square" anchor="t" lIns="0" rIns="0" tIns="0" bIns="0">
            <a:spAutoFit/>
          </a:bodyPr>
          <a:lstStyle/>
          <a:p>
            <a:pPr algn="l">
              <a:lnSpc>
                <a:spcPct val="110000"/>
              </a:lnSpc>
            </a:pPr>
            <a:r>
              <a:rPr sz="2000" b="1">
                <a:solidFill>
                  <a:srgbClr val="6C4DE0"/>
                </a:solidFill>
                <a:latin typeface="Arial"/>
              </a:rPr>
              <a:t>The cast</a:t>
            </a:r>
          </a:p>
        </p:txBody>
      </p:sp>
      <p:sp>
        <p:nvSpPr>
          <p:cNvPr id="8" name="TextBox 7"/>
          <p:cNvSpPr txBox="1"/>
          <p:nvPr/>
        </p:nvSpPr>
        <p:spPr>
          <a:xfrm>
            <a:off x="3017520" y="3401568"/>
            <a:ext cx="4572000" cy="457200"/>
          </a:xfrm>
          <a:prstGeom prst="rect">
            <a:avLst/>
          </a:prstGeom>
          <a:noFill/>
        </p:spPr>
        <p:txBody>
          <a:bodyPr wrap="square" anchor="t" lIns="0" rIns="0" tIns="0" bIns="0">
            <a:spAutoFit/>
          </a:bodyPr>
          <a:lstStyle/>
          <a:p>
            <a:pPr algn="l">
              <a:lnSpc>
                <a:spcPct val="110000"/>
              </a:lnSpc>
            </a:pPr>
            <a:r>
              <a:rPr sz="2000" b="0">
                <a:solidFill>
                  <a:srgbClr val="4B4670"/>
                </a:solidFill>
                <a:latin typeface="Arial"/>
              </a:rPr>
              <a:t>needs the circle to hear the same three notes.</a:t>
            </a:r>
          </a:p>
        </p:txBody>
      </p:sp>
      <p:sp>
        <p:nvSpPr>
          <p:cNvPr id="9" name="TextBox 8"/>
          <p:cNvSpPr txBox="1"/>
          <p:nvPr/>
        </p:nvSpPr>
        <p:spPr>
          <a:xfrm>
            <a:off x="822960" y="4059935"/>
            <a:ext cx="2194560" cy="457200"/>
          </a:xfrm>
          <a:prstGeom prst="rect">
            <a:avLst/>
          </a:prstGeom>
          <a:noFill/>
        </p:spPr>
        <p:txBody>
          <a:bodyPr wrap="square" anchor="t" lIns="0" rIns="0" tIns="0" bIns="0">
            <a:spAutoFit/>
          </a:bodyPr>
          <a:lstStyle/>
          <a:p>
            <a:pPr algn="l">
              <a:lnSpc>
                <a:spcPct val="110000"/>
              </a:lnSpc>
            </a:pPr>
            <a:r>
              <a:rPr sz="2000" b="1">
                <a:solidFill>
                  <a:srgbClr val="6C4DE0"/>
                </a:solidFill>
                <a:latin typeface="Arial"/>
              </a:rPr>
              <a:t>The plan</a:t>
            </a:r>
          </a:p>
        </p:txBody>
      </p:sp>
      <p:sp>
        <p:nvSpPr>
          <p:cNvPr id="10" name="TextBox 9"/>
          <p:cNvSpPr txBox="1"/>
          <p:nvPr/>
        </p:nvSpPr>
        <p:spPr>
          <a:xfrm>
            <a:off x="3017520" y="4059935"/>
            <a:ext cx="4572000" cy="457200"/>
          </a:xfrm>
          <a:prstGeom prst="rect">
            <a:avLst/>
          </a:prstGeom>
          <a:noFill/>
        </p:spPr>
        <p:txBody>
          <a:bodyPr wrap="square" anchor="t" lIns="0" rIns="0" tIns="0" bIns="0">
            <a:spAutoFit/>
          </a:bodyPr>
          <a:lstStyle/>
          <a:p>
            <a:pPr algn="l">
              <a:lnSpc>
                <a:spcPct val="110000"/>
              </a:lnSpc>
            </a:pPr>
            <a:r>
              <a:rPr sz="2000" b="0">
                <a:solidFill>
                  <a:srgbClr val="4B4670"/>
                </a:solidFill>
                <a:latin typeface="Arial"/>
              </a:rPr>
              <a:t>needs everyone to swipe right.</a:t>
            </a:r>
          </a:p>
        </p:txBody>
      </p:sp>
      <p:sp>
        <p:nvSpPr>
          <p:cNvPr id="11" name="TextBox 10"/>
          <p:cNvSpPr txBox="1"/>
          <p:nvPr/>
        </p:nvSpPr>
        <p:spPr>
          <a:xfrm>
            <a:off x="822960" y="4718304"/>
            <a:ext cx="2194560" cy="457200"/>
          </a:xfrm>
          <a:prstGeom prst="rect">
            <a:avLst/>
          </a:prstGeom>
          <a:noFill/>
        </p:spPr>
        <p:txBody>
          <a:bodyPr wrap="square" anchor="t" lIns="0" rIns="0" tIns="0" bIns="0">
            <a:spAutoFit/>
          </a:bodyPr>
          <a:lstStyle/>
          <a:p>
            <a:pPr algn="l">
              <a:lnSpc>
                <a:spcPct val="110000"/>
              </a:lnSpc>
            </a:pPr>
            <a:r>
              <a:rPr sz="2000" b="1">
                <a:solidFill>
                  <a:srgbClr val="6C4DE0"/>
                </a:solidFill>
                <a:latin typeface="Arial"/>
              </a:rPr>
              <a:t>The intro</a:t>
            </a:r>
          </a:p>
        </p:txBody>
      </p:sp>
      <p:sp>
        <p:nvSpPr>
          <p:cNvPr id="12" name="TextBox 11"/>
          <p:cNvSpPr txBox="1"/>
          <p:nvPr/>
        </p:nvSpPr>
        <p:spPr>
          <a:xfrm>
            <a:off x="3017520" y="4718304"/>
            <a:ext cx="4572000" cy="457200"/>
          </a:xfrm>
          <a:prstGeom prst="rect">
            <a:avLst/>
          </a:prstGeom>
          <a:noFill/>
        </p:spPr>
        <p:txBody>
          <a:bodyPr wrap="square" anchor="t" lIns="0" rIns="0" tIns="0" bIns="0">
            <a:spAutoFit/>
          </a:bodyPr>
          <a:lstStyle/>
          <a:p>
            <a:pPr algn="l">
              <a:lnSpc>
                <a:spcPct val="110000"/>
              </a:lnSpc>
            </a:pPr>
            <a:r>
              <a:rPr sz="2000" b="0">
                <a:solidFill>
                  <a:srgbClr val="4B4670"/>
                </a:solidFill>
                <a:latin typeface="Arial"/>
              </a:rPr>
              <a:t>needs a friend’s familiar in the middle.</a:t>
            </a:r>
          </a:p>
        </p:txBody>
      </p:sp>
      <p:pic>
        <p:nvPicPr>
          <p:cNvPr id="13" name="Picture 12" descr="f4.png"/>
          <p:cNvPicPr>
            <a:picLocks noChangeAspect="1"/>
          </p:cNvPicPr>
          <p:nvPr/>
        </p:nvPicPr>
        <p:blipFill>
          <a:blip r:embed="rId3"/>
          <a:stretch>
            <a:fillRect/>
          </a:stretch>
        </p:blipFill>
        <p:spPr>
          <a:xfrm>
            <a:off x="8046720" y="457200"/>
            <a:ext cx="2488520" cy="5394960"/>
          </a:xfrm>
          <a:prstGeom prst="rect">
            <a:avLst/>
          </a:prstGeom>
        </p:spPr>
      </p:pic>
      <p:sp>
        <p:nvSpPr>
          <p:cNvPr id="14" name="Rounded Rectangle 13"/>
          <p:cNvSpPr/>
          <p:nvPr/>
        </p:nvSpPr>
        <p:spPr>
          <a:xfrm>
            <a:off x="822960" y="6144768"/>
            <a:ext cx="2318918"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0.9B</a:t>
            </a:r>
            <a:r>
              <a:rPr sz="1100" b="0">
                <a:solidFill>
                  <a:srgbClr val="4B4670"/>
                </a:solidFill>
                <a:latin typeface="Arial"/>
              </a:rPr>
              <a:t>  one agent per person</a:t>
            </a:r>
          </a:p>
        </p:txBody>
      </p:sp>
      <p:sp>
        <p:nvSpPr>
          <p:cNvPr id="15" name="Rounded Rectangle 14"/>
          <p:cNvSpPr/>
          <p:nvPr/>
        </p:nvSpPr>
        <p:spPr>
          <a:xfrm>
            <a:off x="3269894" y="6144768"/>
            <a:ext cx="2911449"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K2 375B</a:t>
            </a:r>
            <a:r>
              <a:rPr sz="1100" b="0">
                <a:solidFill>
                  <a:srgbClr val="4B4670"/>
                </a:solidFill>
                <a:latin typeface="Arial"/>
              </a:rPr>
              <a:t>  the shared world between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64008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WHAT IS NEXT</a:t>
            </a:r>
          </a:p>
        </p:txBody>
      </p:sp>
      <p:sp>
        <p:nvSpPr>
          <p:cNvPr id="4" name="TextBox 3"/>
          <p:cNvSpPr txBox="1"/>
          <p:nvPr/>
        </p:nvSpPr>
        <p:spPr>
          <a:xfrm>
            <a:off x="822960" y="960120"/>
            <a:ext cx="6400800" cy="1280160"/>
          </a:xfrm>
          <a:prstGeom prst="rect">
            <a:avLst/>
          </a:prstGeom>
          <a:noFill/>
        </p:spPr>
        <p:txBody>
          <a:bodyPr wrap="square" anchor="t" lIns="0" rIns="0" tIns="0" bIns="0">
            <a:spAutoFit/>
          </a:bodyPr>
          <a:lstStyle/>
          <a:p>
            <a:pPr algn="l">
              <a:lnSpc>
                <a:spcPct val="100000"/>
              </a:lnSpc>
            </a:pPr>
            <a:r>
              <a:rPr sz="4000" b="1">
                <a:solidFill>
                  <a:srgbClr val="1B1548"/>
                </a:solidFill>
                <a:latin typeface="Arial"/>
              </a:rPr>
              <a:t>Familiars evolve with who they meet.</a:t>
            </a:r>
          </a:p>
        </p:txBody>
      </p:sp>
      <p:sp>
        <p:nvSpPr>
          <p:cNvPr id="5" name="TextBox 4"/>
          <p:cNvSpPr txBox="1"/>
          <p:nvPr/>
        </p:nvSpPr>
        <p:spPr>
          <a:xfrm>
            <a:off x="822960" y="2651760"/>
            <a:ext cx="6035040" cy="2194560"/>
          </a:xfrm>
          <a:prstGeom prst="rect">
            <a:avLst/>
          </a:prstGeom>
          <a:noFill/>
        </p:spPr>
        <p:txBody>
          <a:bodyPr wrap="square" anchor="t" lIns="0" rIns="0" tIns="0" bIns="0">
            <a:spAutoFit/>
          </a:bodyPr>
          <a:lstStyle/>
          <a:p>
            <a:pPr algn="l">
              <a:lnSpc>
                <a:spcPct val="125000"/>
              </a:lnSpc>
            </a:pPr>
            <a:r>
              <a:rPr sz="2000" b="0">
                <a:solidFill>
                  <a:srgbClr val="4B4670"/>
                </a:solidFill>
                <a:latin typeface="Arial"/>
              </a:rPr>
              <a:t>Your familiar keeps a memory of everyone it meets. Circles get named by what they share. The scout learns which outings happened and finds the next one.</a:t>
            </a:r>
          </a:p>
        </p:txBody>
      </p:sp>
      <p:pic>
        <p:nvPicPr>
          <p:cNvPr id="6" name="Picture 5" descr="f6.png"/>
          <p:cNvPicPr>
            <a:picLocks noChangeAspect="1"/>
          </p:cNvPicPr>
          <p:nvPr/>
        </p:nvPicPr>
        <p:blipFill>
          <a:blip r:embed="rId3"/>
          <a:stretch>
            <a:fillRect/>
          </a:stretch>
        </p:blipFill>
        <p:spPr>
          <a:xfrm>
            <a:off x="8046720" y="457200"/>
            <a:ext cx="2488520" cy="5394960"/>
          </a:xfrm>
          <a:prstGeom prst="rect">
            <a:avLst/>
          </a:prstGeom>
        </p:spPr>
      </p:pic>
      <p:sp>
        <p:nvSpPr>
          <p:cNvPr id="7" name="Rounded Rectangle 6"/>
          <p:cNvSpPr/>
          <p:nvPr/>
        </p:nvSpPr>
        <p:spPr>
          <a:xfrm>
            <a:off x="822960" y="6144768"/>
            <a:ext cx="2648102"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0.9B</a:t>
            </a:r>
            <a:r>
              <a:rPr sz="1100" b="0">
                <a:solidFill>
                  <a:srgbClr val="4B4670"/>
                </a:solidFill>
                <a:latin typeface="Arial"/>
              </a:rPr>
              <a:t>  memory stays on your side</a:t>
            </a:r>
          </a:p>
        </p:txBody>
      </p:sp>
      <p:sp>
        <p:nvSpPr>
          <p:cNvPr id="8" name="Rounded Rectangle 7"/>
          <p:cNvSpPr/>
          <p:nvPr/>
        </p:nvSpPr>
        <p:spPr>
          <a:xfrm>
            <a:off x="3599078" y="6144768"/>
            <a:ext cx="3043123" cy="384048"/>
          </a:xfrm>
          <a:prstGeom prst="roundRect">
            <a:avLst>
              <a:gd name="adj" fmla="val 50000"/>
            </a:avLst>
          </a:prstGeom>
          <a:solidFill>
            <a:srgbClr val="EFEA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28016" rIns="128016" tIns="0" bIns="0"/>
          <a:lstStyle/>
          <a:p>
            <a:pPr algn="l"/>
            <a:r>
              <a:rPr sz="1100" b="1">
                <a:solidFill>
                  <a:srgbClr val="4E36B8"/>
                </a:solidFill>
                <a:latin typeface="Arial"/>
              </a:rPr>
              <a:t>K2 375B</a:t>
            </a:r>
            <a:r>
              <a:rPr sz="1100" b="0">
                <a:solidFill>
                  <a:srgbClr val="4B4670"/>
                </a:solidFill>
                <a:latin typeface="Arial"/>
              </a:rPr>
              <a:t>  learns the room, not the person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2194560"/>
            <a:ext cx="6766560" cy="1463040"/>
          </a:xfrm>
          <a:prstGeom prst="rect">
            <a:avLst/>
          </a:prstGeom>
          <a:noFill/>
        </p:spPr>
        <p:txBody>
          <a:bodyPr wrap="square" anchor="t" lIns="0" rIns="0" tIns="0" bIns="0">
            <a:spAutoFit/>
          </a:bodyPr>
          <a:lstStyle/>
          <a:p>
            <a:pPr algn="l">
              <a:lnSpc>
                <a:spcPct val="95000"/>
              </a:lnSpc>
            </a:pPr>
            <a:r>
              <a:rPr sz="8800" b="1">
                <a:solidFill>
                  <a:srgbClr val="1B1548"/>
                </a:solidFill>
                <a:latin typeface="Arial"/>
              </a:rPr>
              <a:t>Familiars</a:t>
            </a:r>
          </a:p>
        </p:txBody>
      </p:sp>
      <p:sp>
        <p:nvSpPr>
          <p:cNvPr id="4" name="TextBox 3"/>
          <p:cNvSpPr txBox="1"/>
          <p:nvPr/>
        </p:nvSpPr>
        <p:spPr>
          <a:xfrm>
            <a:off x="822960" y="3840480"/>
            <a:ext cx="6400800" cy="914400"/>
          </a:xfrm>
          <a:prstGeom prst="rect">
            <a:avLst/>
          </a:prstGeom>
          <a:noFill/>
        </p:spPr>
        <p:txBody>
          <a:bodyPr wrap="square" anchor="t" lIns="0" rIns="0" tIns="0" bIns="0">
            <a:spAutoFit/>
          </a:bodyPr>
          <a:lstStyle/>
          <a:p>
            <a:pPr algn="l">
              <a:lnSpc>
                <a:spcPct val="110000"/>
              </a:lnSpc>
            </a:pPr>
            <a:r>
              <a:rPr sz="3000" b="0">
                <a:solidFill>
                  <a:srgbClr val="4B4670"/>
                </a:solidFill>
                <a:latin typeface="Arial"/>
              </a:rPr>
              <a:t>Meet through your familiar.</a:t>
            </a:r>
          </a:p>
        </p:txBody>
      </p:sp>
      <p:sp>
        <p:nvSpPr>
          <p:cNvPr id="5" name="TextBox 4"/>
          <p:cNvSpPr txBox="1"/>
          <p:nvPr/>
        </p:nvSpPr>
        <p:spPr>
          <a:xfrm>
            <a:off x="822960" y="6126480"/>
            <a:ext cx="8229600" cy="274320"/>
          </a:xfrm>
          <a:prstGeom prst="rect">
            <a:avLst/>
          </a:prstGeom>
          <a:noFill/>
        </p:spPr>
        <p:txBody>
          <a:bodyPr wrap="square" anchor="t" lIns="0" rIns="0" tIns="0" bIns="0">
            <a:spAutoFit/>
          </a:bodyPr>
          <a:lstStyle/>
          <a:p>
            <a:pPr algn="l">
              <a:lnSpc>
                <a:spcPct val="110000"/>
              </a:lnSpc>
            </a:pPr>
            <a:r>
              <a:rPr sz="1100" b="1">
                <a:solidFill>
                  <a:srgbClr val="8A86AA"/>
                </a:solidFill>
                <a:latin typeface="Arial"/>
              </a:rPr>
              <a:t>BUILT AT HACKCMU 2026 · MULTIPLAYER · IFM K2 HORIZON · ELEVENLABS · QUERIT</a:t>
            </a:r>
          </a:p>
        </p:txBody>
      </p:sp>
      <p:pic>
        <p:nvPicPr>
          <p:cNvPr id="6" name="Picture 5" descr="f12.png"/>
          <p:cNvPicPr>
            <a:picLocks noChangeAspect="1"/>
          </p:cNvPicPr>
          <p:nvPr/>
        </p:nvPicPr>
        <p:blipFill>
          <a:blip r:embed="rId3"/>
          <a:stretch>
            <a:fillRect/>
          </a:stretch>
        </p:blipFill>
        <p:spPr>
          <a:xfrm>
            <a:off x="7863840" y="502920"/>
            <a:ext cx="2699411" cy="58521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