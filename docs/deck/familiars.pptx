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Familiars. Everyone gets a small creature, hatched from their own voice, that meets other people’s creatures first, so you never have to send the cold 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loneliness numbers on campus are not new: more than half of students say they are lonely. And it is not for lack of people. The problem is the first move. BeReal proved a synchronized moment brings people together, and died because a photo has nothing to say. Three out of four group plans die in the chat.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idea is to manufacture the introduction. Your familiar knows you, theirs knows them. They meet first and hand you one line worth saying, like a recommendation from a mutual friend. It removes the cold start and leaves the real conversation to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Onboarding is a name, pronouns, and a few seconds of talking. What you say sticks to the egg, and it hatches into a creature that is visibly based on you. Merlin here knows synths, tape loops, Recife, and 3 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multiplayer core. You put your phone in casting mode, wiggle it, and the person next to you taps catch. Their familiar and yours meet on a stage, say one line each out loud, and hand you both the one thing you share. Then you talk, in person.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 is your web: the people you met, standing inside the interests you share, and friends of friends fading upward. The ones you keep missing are one tap away, and the introduction is carried by a friend’s familiar.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Circles form from your web. Once a day, at a minute nobody knows, every phone in the circle plays the same three notes and shows the same question, written from what the circle shares. You talk about it in person; the phone listens and catches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your familiar goes out for the circle. It searches real, current events, checks the details, and comes back with three cards. You swipe. When everyone swipes right on the same one, it is a plan, on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every night, the familiar tells you the story of your day: who it met, the line that worked, and the one that got away.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an event, the projector shows the room’s web forming in real time, and which two familiars are on stage right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the hood, every familiar is its own K2 Horizon 0.9B instance with its own memory, small enough to live on the person’s side. The 375B model hatches them, writes the casts, brokers introductions, writes the recap, and runs the scout’s investigation loop. ElevenLabs gives them ears and voices. Querit gives them the web. The wiggle is just motion sensors and one tap.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why this is a multiplayer project: nothing here works with one phone. The wiggle needs a catch, the cast needs a circle, the plan needs everyone, and the intro needs a friend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familiars evolve with who they meet, circles name themselves by what they share, and the scout learns which plans actually happened.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Familiars. Meet through your familiar.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22960"/>
            <a:ext cx="8229600" cy="274320"/>
          </a:xfrm>
          <a:prstGeom prst="rect">
            <a:avLst/>
          </a:prstGeom>
          <a:noFill/>
        </p:spPr>
        <p:txBody>
          <a:bodyPr wrap="square" anchor="t" lIns="0" rIns="0" tIns="0" bIns="0">
            <a:spAutoFit/>
          </a:bodyPr>
          <a:lstStyle/>
          <a:p>
            <a:pPr algn="l">
              <a:lnSpc>
                <a:spcPct val="110000"/>
              </a:lnSpc>
            </a:pPr>
            <a:r>
              <a:rPr sz="1100" b="1">
                <a:solidFill>
                  <a:srgbClr val="FFC85C"/>
                </a:solidFill>
                <a:latin typeface="Avenir Next"/>
              </a:rPr>
              <a:t>HACKCMU 2026 · MULTIPLAYER · IFM · ELEVENLABS</a:t>
            </a:r>
          </a:p>
        </p:txBody>
      </p:sp>
      <p:sp>
        <p:nvSpPr>
          <p:cNvPr id="4" name="TextBox 3"/>
          <p:cNvSpPr txBox="1"/>
          <p:nvPr/>
        </p:nvSpPr>
        <p:spPr>
          <a:xfrm>
            <a:off x="822960" y="1463040"/>
            <a:ext cx="6583680" cy="2011680"/>
          </a:xfrm>
          <a:prstGeom prst="rect">
            <a:avLst/>
          </a:prstGeom>
          <a:noFill/>
        </p:spPr>
        <p:txBody>
          <a:bodyPr wrap="square" anchor="t" lIns="0" rIns="0" tIns="0" bIns="0">
            <a:spAutoFit/>
          </a:bodyPr>
          <a:lstStyle/>
          <a:p>
            <a:pPr algn="l">
              <a:lnSpc>
                <a:spcPct val="95000"/>
              </a:lnSpc>
            </a:pPr>
            <a:r>
              <a:rPr sz="8800" b="1">
                <a:solidFill>
                  <a:srgbClr val="F4F2FF"/>
                </a:solidFill>
                <a:latin typeface="Avenir Next"/>
              </a:rPr>
              <a:t>Familiars</a:t>
            </a:r>
          </a:p>
        </p:txBody>
      </p:sp>
      <p:sp>
        <p:nvSpPr>
          <p:cNvPr id="5" name="TextBox 4"/>
          <p:cNvSpPr txBox="1"/>
          <p:nvPr/>
        </p:nvSpPr>
        <p:spPr>
          <a:xfrm>
            <a:off x="822960" y="3383280"/>
            <a:ext cx="6035040" cy="1463040"/>
          </a:xfrm>
          <a:prstGeom prst="rect">
            <a:avLst/>
          </a:prstGeom>
          <a:noFill/>
        </p:spPr>
        <p:txBody>
          <a:bodyPr wrap="square" anchor="t" lIns="0" rIns="0" tIns="0" bIns="0">
            <a:spAutoFit/>
          </a:bodyPr>
          <a:lstStyle/>
          <a:p>
            <a:pPr algn="l">
              <a:lnSpc>
                <a:spcPct val="105000"/>
              </a:lnSpc>
            </a:pPr>
            <a:r>
              <a:rPr sz="3400" b="0">
                <a:solidFill>
                  <a:srgbClr val="F4F2FF"/>
                </a:solidFill>
                <a:latin typeface="Avenir Next"/>
              </a:rPr>
              <a:t>Your familiar meets theirs first.</a:t>
            </a:r>
          </a:p>
        </p:txBody>
      </p:sp>
      <p:sp>
        <p:nvSpPr>
          <p:cNvPr id="6" name="TextBox 5"/>
          <p:cNvSpPr txBox="1"/>
          <p:nvPr/>
        </p:nvSpPr>
        <p:spPr>
          <a:xfrm>
            <a:off x="822960" y="4754880"/>
            <a:ext cx="5852160" cy="1097280"/>
          </a:xfrm>
          <a:prstGeom prst="rect">
            <a:avLst/>
          </a:prstGeom>
          <a:noFill/>
        </p:spPr>
        <p:txBody>
          <a:bodyPr wrap="square" anchor="t" lIns="0" rIns="0" tIns="0" bIns="0">
            <a:spAutoFit/>
          </a:bodyPr>
          <a:lstStyle/>
          <a:p>
            <a:pPr algn="l">
              <a:lnSpc>
                <a:spcPct val="125000"/>
              </a:lnSpc>
            </a:pPr>
            <a:r>
              <a:rPr sz="1800" b="0">
                <a:solidFill>
                  <a:srgbClr val="C9C6E6"/>
                </a:solidFill>
                <a:latin typeface="Avenir Next"/>
              </a:rPr>
              <a:t>A small creature, hatched from your voice, that introduces you to people, listens when your circle talks, and goes out to find you plans.</a:t>
            </a:r>
          </a:p>
        </p:txBody>
      </p:sp>
      <p:pic>
        <p:nvPicPr>
          <p:cNvPr id="7" name="Picture 6" descr="f2.png"/>
          <p:cNvPicPr>
            <a:picLocks noChangeAspect="1"/>
          </p:cNvPicPr>
          <p:nvPr/>
        </p:nvPicPr>
        <p:blipFill>
          <a:blip r:embed="rId3"/>
          <a:stretch>
            <a:fillRect/>
          </a:stretch>
        </p:blipFill>
        <p:spPr>
          <a:xfrm>
            <a:off x="7863840" y="502920"/>
            <a:ext cx="2699411" cy="58521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THE PROBLEM</a:t>
            </a:r>
          </a:p>
        </p:txBody>
      </p:sp>
      <p:sp>
        <p:nvSpPr>
          <p:cNvPr id="4" name="TextBox 3"/>
          <p:cNvSpPr txBox="1"/>
          <p:nvPr/>
        </p:nvSpPr>
        <p:spPr>
          <a:xfrm>
            <a:off x="822960" y="960120"/>
            <a:ext cx="8229600" cy="128016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Everyone is in the same room. Nobody sends the first text.</a:t>
            </a:r>
          </a:p>
        </p:txBody>
      </p:sp>
      <p:sp>
        <p:nvSpPr>
          <p:cNvPr id="5" name="TextBox 4"/>
          <p:cNvSpPr txBox="1"/>
          <p:nvPr/>
        </p:nvSpPr>
        <p:spPr>
          <a:xfrm>
            <a:off x="822960" y="251460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57%</a:t>
            </a:r>
          </a:p>
        </p:txBody>
      </p:sp>
      <p:sp>
        <p:nvSpPr>
          <p:cNvPr id="6" name="TextBox 5"/>
          <p:cNvSpPr txBox="1"/>
          <p:nvPr/>
        </p:nvSpPr>
        <p:spPr>
          <a:xfrm>
            <a:off x="2926079" y="262432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of 44,000 US college students report loneliness; 12% always.</a:t>
            </a:r>
          </a:p>
          <a:p>
            <a:pPr algn="l">
              <a:lnSpc>
                <a:spcPct val="120000"/>
              </a:lnSpc>
            </a:pPr>
            <a:r>
              <a:rPr sz="1100" b="0">
                <a:solidFill>
                  <a:srgbClr val="8E8BB4"/>
                </a:solidFill>
                <a:latin typeface="Avenir Next"/>
              </a:rPr>
              <a:t>Trellis, 2024</a:t>
            </a:r>
          </a:p>
        </p:txBody>
      </p:sp>
      <p:sp>
        <p:nvSpPr>
          <p:cNvPr id="7" name="TextBox 6"/>
          <p:cNvSpPr txBox="1"/>
          <p:nvPr/>
        </p:nvSpPr>
        <p:spPr>
          <a:xfrm>
            <a:off x="6492240" y="251460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65%</a:t>
            </a:r>
          </a:p>
        </p:txBody>
      </p:sp>
      <p:sp>
        <p:nvSpPr>
          <p:cNvPr id="8" name="TextBox 7"/>
          <p:cNvSpPr txBox="1"/>
          <p:nvPr/>
        </p:nvSpPr>
        <p:spPr>
          <a:xfrm>
            <a:off x="8595360" y="262432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of students lonely in the most recent national survey.</a:t>
            </a:r>
          </a:p>
          <a:p>
            <a:pPr algn="l">
              <a:lnSpc>
                <a:spcPct val="120000"/>
              </a:lnSpc>
            </a:pPr>
            <a:r>
              <a:rPr sz="1100" b="0">
                <a:solidFill>
                  <a:srgbClr val="8E8BB4"/>
                </a:solidFill>
                <a:latin typeface="Avenir Next"/>
              </a:rPr>
              <a:t>Active Minds · TimelyCare, 2025</a:t>
            </a:r>
          </a:p>
        </p:txBody>
      </p:sp>
      <p:sp>
        <p:nvSpPr>
          <p:cNvPr id="9" name="TextBox 8"/>
          <p:cNvSpPr txBox="1"/>
          <p:nvPr/>
        </p:nvSpPr>
        <p:spPr>
          <a:xfrm>
            <a:off x="822960" y="438912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70M</a:t>
            </a:r>
          </a:p>
        </p:txBody>
      </p:sp>
      <p:sp>
        <p:nvSpPr>
          <p:cNvPr id="10" name="TextBox 9"/>
          <p:cNvSpPr txBox="1"/>
          <p:nvPr/>
        </p:nvSpPr>
        <p:spPr>
          <a:xfrm>
            <a:off x="2926079" y="449884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daily users at BeReal’s peak. A shared moment worked; a photo had nothing to say.</a:t>
            </a:r>
          </a:p>
          <a:p>
            <a:pPr algn="l">
              <a:lnSpc>
                <a:spcPct val="120000"/>
              </a:lnSpc>
            </a:pPr>
            <a:r>
              <a:rPr sz="1100" b="0">
                <a:solidFill>
                  <a:srgbClr val="8E8BB4"/>
                </a:solidFill>
                <a:latin typeface="Avenir Next"/>
              </a:rPr>
              <a:t>2022 peak, down to ~3M by 2025</a:t>
            </a:r>
          </a:p>
        </p:txBody>
      </p:sp>
      <p:sp>
        <p:nvSpPr>
          <p:cNvPr id="11" name="TextBox 10"/>
          <p:cNvSpPr txBox="1"/>
          <p:nvPr/>
        </p:nvSpPr>
        <p:spPr>
          <a:xfrm>
            <a:off x="6492240" y="4389120"/>
            <a:ext cx="2011680" cy="914400"/>
          </a:xfrm>
          <a:prstGeom prst="rect">
            <a:avLst/>
          </a:prstGeom>
          <a:noFill/>
        </p:spPr>
        <p:txBody>
          <a:bodyPr wrap="square" anchor="t" lIns="0" rIns="0" tIns="0" bIns="0">
            <a:spAutoFit/>
          </a:bodyPr>
          <a:lstStyle/>
          <a:p>
            <a:pPr algn="l">
              <a:lnSpc>
                <a:spcPct val="90000"/>
              </a:lnSpc>
            </a:pPr>
            <a:r>
              <a:rPr sz="5400" b="1">
                <a:solidFill>
                  <a:srgbClr val="FFC85C"/>
                </a:solidFill>
                <a:latin typeface="Avenir Next"/>
              </a:rPr>
              <a:t>76%</a:t>
            </a:r>
          </a:p>
        </p:txBody>
      </p:sp>
      <p:sp>
        <p:nvSpPr>
          <p:cNvPr id="12" name="TextBox 11"/>
          <p:cNvSpPr txBox="1"/>
          <p:nvPr/>
        </p:nvSpPr>
        <p:spPr>
          <a:xfrm>
            <a:off x="8595360" y="4498848"/>
            <a:ext cx="3383280" cy="1097280"/>
          </a:xfrm>
          <a:prstGeom prst="rect">
            <a:avLst/>
          </a:prstGeom>
          <a:noFill/>
        </p:spPr>
        <p:txBody>
          <a:bodyPr wrap="square" anchor="t" lIns="0" rIns="0" tIns="0" bIns="0">
            <a:spAutoFit/>
          </a:bodyPr>
          <a:lstStyle/>
          <a:p>
            <a:pPr algn="l">
              <a:lnSpc>
                <a:spcPct val="120000"/>
              </a:lnSpc>
            </a:pPr>
            <a:r>
              <a:rPr sz="1600" b="0">
                <a:solidFill>
                  <a:srgbClr val="F4F2FF"/>
                </a:solidFill>
                <a:latin typeface="Avenir Next"/>
              </a:rPr>
              <a:t>of group plans never leave the chat. The ones that happen take 83 messages.</a:t>
            </a:r>
          </a:p>
          <a:p>
            <a:pPr algn="l">
              <a:lnSpc>
                <a:spcPct val="120000"/>
              </a:lnSpc>
            </a:pPr>
            <a:r>
              <a:rPr sz="1100" b="0">
                <a:solidFill>
                  <a:srgbClr val="8E8BB4"/>
                </a:solidFill>
                <a:latin typeface="Avenir Next"/>
              </a:rPr>
              <a:t>2026 survey</a:t>
            </a:r>
          </a:p>
        </p:txBody>
      </p:sp>
      <p:sp>
        <p:nvSpPr>
          <p:cNvPr id="13" name="TextBox 12"/>
          <p:cNvSpPr txBox="1"/>
          <p:nvPr/>
        </p:nvSpPr>
        <p:spPr>
          <a:xfrm>
            <a:off x="822960" y="6263640"/>
            <a:ext cx="10058400" cy="365760"/>
          </a:xfrm>
          <a:prstGeom prst="rect">
            <a:avLst/>
          </a:prstGeom>
          <a:noFill/>
        </p:spPr>
        <p:txBody>
          <a:bodyPr wrap="square" anchor="t" lIns="0" rIns="0" tIns="0" bIns="0">
            <a:spAutoFit/>
          </a:bodyPr>
          <a:lstStyle/>
          <a:p>
            <a:pPr algn="l">
              <a:lnSpc>
                <a:spcPct val="110000"/>
              </a:lnSpc>
            </a:pPr>
            <a:r>
              <a:rPr sz="1200" b="0">
                <a:solidFill>
                  <a:srgbClr val="8E8BB4"/>
                </a:solidFill>
                <a:latin typeface="Avenir Next"/>
              </a:rPr>
              <a:t>“You can get a meal without talking to another human.” · The Tartan, CMU,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THE IDEA</a:t>
            </a:r>
          </a:p>
        </p:txBody>
      </p:sp>
      <p:sp>
        <p:nvSpPr>
          <p:cNvPr id="4" name="TextBox 3"/>
          <p:cNvSpPr txBox="1"/>
          <p:nvPr/>
        </p:nvSpPr>
        <p:spPr>
          <a:xfrm>
            <a:off x="822960" y="960120"/>
            <a:ext cx="7132320" cy="2377440"/>
          </a:xfrm>
          <a:prstGeom prst="rect">
            <a:avLst/>
          </a:prstGeom>
          <a:noFill/>
        </p:spPr>
        <p:txBody>
          <a:bodyPr wrap="square" anchor="t" lIns="0" rIns="0" tIns="0" bIns="0">
            <a:spAutoFit/>
          </a:bodyPr>
          <a:lstStyle/>
          <a:p>
            <a:pPr algn="l">
              <a:lnSpc>
                <a:spcPct val="100000"/>
              </a:lnSpc>
            </a:pPr>
            <a:r>
              <a:rPr sz="4600" b="1">
                <a:solidFill>
                  <a:srgbClr val="F4F2FF"/>
                </a:solidFill>
                <a:latin typeface="Avenir Next"/>
              </a:rPr>
              <a:t>Manufacture the introduction.</a:t>
            </a:r>
          </a:p>
        </p:txBody>
      </p:sp>
      <p:sp>
        <p:nvSpPr>
          <p:cNvPr id="5" name="TextBox 4"/>
          <p:cNvSpPr txBox="1"/>
          <p:nvPr/>
        </p:nvSpPr>
        <p:spPr>
          <a:xfrm>
            <a:off x="822960" y="2377440"/>
            <a:ext cx="6309360" cy="2926080"/>
          </a:xfrm>
          <a:prstGeom prst="rect">
            <a:avLst/>
          </a:prstGeom>
          <a:noFill/>
        </p:spPr>
        <p:txBody>
          <a:bodyPr wrap="square" anchor="t" lIns="0" rIns="0" tIns="0" bIns="0">
            <a:spAutoFit/>
          </a:bodyPr>
          <a:lstStyle/>
          <a:p>
            <a:pPr algn="l">
              <a:lnSpc>
                <a:spcPct val="125000"/>
              </a:lnSpc>
            </a:pPr>
            <a:r>
              <a:rPr sz="2200" b="0">
                <a:solidFill>
                  <a:srgbClr val="C9C6E6"/>
                </a:solidFill>
                <a:latin typeface="Avenir Next"/>
              </a:rPr>
              <a:t>Your familiar knows you. Their familiar knows them. When the two meet, you both get one line worth saying, like a recommendation from a friend who knows you both.</a:t>
            </a:r>
          </a:p>
          <a:p>
            <a:pPr algn="l">
              <a:lnSpc>
                <a:spcPct val="125000"/>
              </a:lnSpc>
            </a:pPr>
            <a:r>
              <a:rPr sz="1000" b="0">
                <a:solidFill>
                  <a:srgbClr val="C9C6E6"/>
                </a:solidFill>
                <a:latin typeface="Avenir Next"/>
              </a:rPr>
              <a:t/>
            </a:r>
          </a:p>
          <a:p>
            <a:pPr algn="l">
              <a:lnSpc>
                <a:spcPct val="125000"/>
              </a:lnSpc>
            </a:pPr>
            <a:r>
              <a:rPr sz="2200" b="1">
                <a:solidFill>
                  <a:srgbClr val="F4F2FF"/>
                </a:solidFill>
                <a:latin typeface="Avenir Next"/>
              </a:rPr>
              <a:t>It removes the cold start. It does not replace the conversation.</a:t>
            </a:r>
          </a:p>
        </p:txBody>
      </p:sp>
      <p:pic>
        <p:nvPicPr>
          <p:cNvPr id="6" name="Picture 5" descr="f5.png"/>
          <p:cNvPicPr>
            <a:picLocks noChangeAspect="1"/>
          </p:cNvPicPr>
          <p:nvPr/>
        </p:nvPicPr>
        <p:blipFill>
          <a:blip r:embed="rId3"/>
          <a:stretch>
            <a:fillRect/>
          </a:stretch>
        </p:blipFill>
        <p:spPr>
          <a:xfrm>
            <a:off x="7680960" y="457200"/>
            <a:ext cx="2699411" cy="585216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1 · HATCH</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600" b="1">
                <a:solidFill>
                  <a:srgbClr val="F4F2FF"/>
                </a:solidFill>
                <a:latin typeface="Avenir Next"/>
              </a:rPr>
              <a:t>Five seconds of talking. A familiar that is based on you.</a:t>
            </a:r>
          </a:p>
        </p:txBody>
      </p:sp>
      <p:sp>
        <p:nvSpPr>
          <p:cNvPr id="5" name="TextBox 4"/>
          <p:cNvSpPr txBox="1"/>
          <p:nvPr/>
        </p:nvSpPr>
        <p:spPr>
          <a:xfrm>
            <a:off x="8503920" y="822960"/>
            <a:ext cx="3108960" cy="731520"/>
          </a:xfrm>
          <a:prstGeom prst="rect">
            <a:avLst/>
          </a:prstGeom>
          <a:noFill/>
        </p:spPr>
        <p:txBody>
          <a:bodyPr wrap="square" anchor="t" lIns="0" rIns="0" tIns="0" bIns="0">
            <a:spAutoFit/>
          </a:bodyPr>
          <a:lstStyle/>
          <a:p>
            <a:pPr algn="l">
              <a:lnSpc>
                <a:spcPct val="120000"/>
              </a:lnSpc>
            </a:pPr>
            <a:r>
              <a:rPr sz="1300" b="0">
                <a:solidFill>
                  <a:srgbClr val="C9C6E6"/>
                </a:solidFill>
                <a:latin typeface="Avenir Next"/>
              </a:rPr>
              <a:t>Name, pronouns, then you talk. Your words stick to the egg. It hatches with a name, a voice, and the four things it knows.</a:t>
            </a:r>
          </a:p>
        </p:txBody>
      </p:sp>
      <p:pic>
        <p:nvPicPr>
          <p:cNvPr id="6" name="Picture 5" descr="f0.png"/>
          <p:cNvPicPr>
            <a:picLocks noChangeAspect="1"/>
          </p:cNvPicPr>
          <p:nvPr/>
        </p:nvPicPr>
        <p:blipFill>
          <a:blip r:embed="rId3"/>
          <a:stretch>
            <a:fillRect/>
          </a:stretch>
        </p:blipFill>
        <p:spPr>
          <a:xfrm>
            <a:off x="2454265" y="1874519"/>
            <a:ext cx="2214361" cy="4800600"/>
          </a:xfrm>
          <a:prstGeom prst="rect">
            <a:avLst/>
          </a:prstGeom>
        </p:spPr>
      </p:pic>
      <p:pic>
        <p:nvPicPr>
          <p:cNvPr id="7" name="Picture 6" descr="f1.png"/>
          <p:cNvPicPr>
            <a:picLocks noChangeAspect="1"/>
          </p:cNvPicPr>
          <p:nvPr/>
        </p:nvPicPr>
        <p:blipFill>
          <a:blip r:embed="rId4"/>
          <a:stretch>
            <a:fillRect/>
          </a:stretch>
        </p:blipFill>
        <p:spPr>
          <a:xfrm>
            <a:off x="4988666" y="1874519"/>
            <a:ext cx="2214361" cy="4800600"/>
          </a:xfrm>
          <a:prstGeom prst="rect">
            <a:avLst/>
          </a:prstGeom>
        </p:spPr>
      </p:pic>
      <p:pic>
        <p:nvPicPr>
          <p:cNvPr id="8" name="Picture 7" descr="f2.png"/>
          <p:cNvPicPr>
            <a:picLocks noChangeAspect="1"/>
          </p:cNvPicPr>
          <p:nvPr/>
        </p:nvPicPr>
        <p:blipFill>
          <a:blip r:embed="rId5"/>
          <a:stretch>
            <a:fillRect/>
          </a:stretch>
        </p:blipFill>
        <p:spPr>
          <a:xfrm>
            <a:off x="7523068" y="1874519"/>
            <a:ext cx="2214361" cy="48006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2 · MEET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600" b="1">
                <a:solidFill>
                  <a:srgbClr val="F4F2FF"/>
                </a:solidFill>
                <a:latin typeface="Avenir Next"/>
              </a:rPr>
              <a:t>Wiggle to cast. Tap to catch. The familiars do the awkward part.</a:t>
            </a:r>
          </a:p>
        </p:txBody>
      </p:sp>
      <p:sp>
        <p:nvSpPr>
          <p:cNvPr id="5" name="TextBox 4"/>
          <p:cNvSpPr txBox="1"/>
          <p:nvPr/>
        </p:nvSpPr>
        <p:spPr>
          <a:xfrm>
            <a:off x="8503920" y="822960"/>
            <a:ext cx="3108960" cy="731520"/>
          </a:xfrm>
          <a:prstGeom prst="rect">
            <a:avLst/>
          </a:prstGeom>
          <a:noFill/>
        </p:spPr>
        <p:txBody>
          <a:bodyPr wrap="square" anchor="t" lIns="0" rIns="0" tIns="0" bIns="0">
            <a:spAutoFit/>
          </a:bodyPr>
          <a:lstStyle/>
          <a:p>
            <a:pPr algn="l">
              <a:lnSpc>
                <a:spcPct val="120000"/>
              </a:lnSpc>
            </a:pPr>
            <a:r>
              <a:rPr sz="1300" b="0">
                <a:solidFill>
                  <a:srgbClr val="C9C6E6"/>
                </a:solidFill>
                <a:latin typeface="Avenir Next"/>
              </a:rPr>
              <a:t>One phone wiggles, the other catches. The two familiars meet on a stage, speak one line each, and hand you the one thing you share.</a:t>
            </a:r>
          </a:p>
        </p:txBody>
      </p:sp>
      <p:pic>
        <p:nvPicPr>
          <p:cNvPr id="6" name="Picture 5" descr="f3.png"/>
          <p:cNvPicPr>
            <a:picLocks noChangeAspect="1"/>
          </p:cNvPicPr>
          <p:nvPr/>
        </p:nvPicPr>
        <p:blipFill>
          <a:blip r:embed="rId3"/>
          <a:stretch>
            <a:fillRect/>
          </a:stretch>
        </p:blipFill>
        <p:spPr>
          <a:xfrm>
            <a:off x="2454265" y="1874519"/>
            <a:ext cx="2214361" cy="4800600"/>
          </a:xfrm>
          <a:prstGeom prst="rect">
            <a:avLst/>
          </a:prstGeom>
        </p:spPr>
      </p:pic>
      <p:pic>
        <p:nvPicPr>
          <p:cNvPr id="7" name="Picture 6" descr="f4.png"/>
          <p:cNvPicPr>
            <a:picLocks noChangeAspect="1"/>
          </p:cNvPicPr>
          <p:nvPr/>
        </p:nvPicPr>
        <p:blipFill>
          <a:blip r:embed="rId4"/>
          <a:stretch>
            <a:fillRect/>
          </a:stretch>
        </p:blipFill>
        <p:spPr>
          <a:xfrm>
            <a:off x="4988666" y="1874519"/>
            <a:ext cx="2214361" cy="4800600"/>
          </a:xfrm>
          <a:prstGeom prst="rect">
            <a:avLst/>
          </a:prstGeom>
        </p:spPr>
      </p:pic>
      <p:pic>
        <p:nvPicPr>
          <p:cNvPr id="8" name="Picture 7" descr="f5.png"/>
          <p:cNvPicPr>
            <a:picLocks noChangeAspect="1"/>
          </p:cNvPicPr>
          <p:nvPr/>
        </p:nvPicPr>
        <p:blipFill>
          <a:blip r:embed="rId5"/>
          <a:stretch>
            <a:fillRect/>
          </a:stretch>
        </p:blipFill>
        <p:spPr>
          <a:xfrm>
            <a:off x="7523068" y="1874519"/>
            <a:ext cx="2214361" cy="48006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3 · WEB</a:t>
            </a:r>
          </a:p>
        </p:txBody>
      </p:sp>
      <p:sp>
        <p:nvSpPr>
          <p:cNvPr id="4" name="TextBox 3"/>
          <p:cNvSpPr txBox="1"/>
          <p:nvPr/>
        </p:nvSpPr>
        <p:spPr>
          <a:xfrm>
            <a:off x="822960" y="960120"/>
            <a:ext cx="4754880" cy="182880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Home is who you have met.</a:t>
            </a:r>
          </a:p>
        </p:txBody>
      </p:sp>
      <p:sp>
        <p:nvSpPr>
          <p:cNvPr id="5" name="TextBox 4"/>
          <p:cNvSpPr txBox="1"/>
          <p:nvPr/>
        </p:nvSpPr>
        <p:spPr>
          <a:xfrm>
            <a:off x="822960" y="2926080"/>
            <a:ext cx="4572000" cy="3108960"/>
          </a:xfrm>
          <a:prstGeom prst="rect">
            <a:avLst/>
          </a:prstGeom>
          <a:noFill/>
        </p:spPr>
        <p:txBody>
          <a:bodyPr wrap="square" anchor="t" lIns="0" rIns="0" tIns="0" bIns="0">
            <a:spAutoFit/>
          </a:bodyPr>
          <a:lstStyle/>
          <a:p>
            <a:pPr algn="l">
              <a:lnSpc>
                <a:spcPct val="125000"/>
              </a:lnSpc>
            </a:pPr>
            <a:r>
              <a:rPr sz="2000" b="0">
                <a:solidFill>
                  <a:srgbClr val="C9C6E6"/>
                </a:solidFill>
                <a:latin typeface="Avenir Next"/>
              </a:rPr>
              <a:t>People stand in the interests you share. Friends of friends fade upward.</a:t>
            </a:r>
          </a:p>
          <a:p>
            <a:pPr algn="l">
              <a:lnSpc>
                <a:spcPct val="125000"/>
              </a:lnSpc>
            </a:pPr>
            <a:r>
              <a:rPr sz="800" b="0">
                <a:solidFill>
                  <a:srgbClr val="C9C6E6"/>
                </a:solidFill>
                <a:latin typeface="Avenir Next"/>
              </a:rPr>
              <a:t/>
            </a:r>
          </a:p>
          <a:p>
            <a:pPr algn="l">
              <a:lnSpc>
                <a:spcPct val="125000"/>
              </a:lnSpc>
            </a:pPr>
            <a:r>
              <a:rPr sz="2000" b="0">
                <a:solidFill>
                  <a:srgbClr val="F4F2FF"/>
                </a:solidFill>
                <a:latin typeface="Avenir Next"/>
              </a:rPr>
              <a:t>The ones you keep missing get an introduction carried by a friend’s familiar. Nobody texts first.</a:t>
            </a:r>
          </a:p>
        </p:txBody>
      </p:sp>
      <p:pic>
        <p:nvPicPr>
          <p:cNvPr id="6" name="Picture 5" descr="f6.png"/>
          <p:cNvPicPr>
            <a:picLocks noChangeAspect="1"/>
          </p:cNvPicPr>
          <p:nvPr/>
        </p:nvPicPr>
        <p:blipFill>
          <a:blip r:embed="rId3"/>
          <a:stretch>
            <a:fillRect/>
          </a:stretch>
        </p:blipFill>
        <p:spPr>
          <a:xfrm>
            <a:off x="6035040" y="457200"/>
            <a:ext cx="2699411" cy="5852160"/>
          </a:xfrm>
          <a:prstGeom prst="rect">
            <a:avLst/>
          </a:prstGeom>
        </p:spPr>
      </p:pic>
      <p:pic>
        <p:nvPicPr>
          <p:cNvPr id="7" name="Picture 6" descr="f7.png"/>
          <p:cNvPicPr>
            <a:picLocks noChangeAspect="1"/>
          </p:cNvPicPr>
          <p:nvPr/>
        </p:nvPicPr>
        <p:blipFill>
          <a:blip r:embed="rId4"/>
          <a:stretch>
            <a:fillRect/>
          </a:stretch>
        </p:blipFill>
        <p:spPr>
          <a:xfrm>
            <a:off x="9052560" y="457200"/>
            <a:ext cx="2699411" cy="58521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4 · THE DAILY CAST</a:t>
            </a:r>
          </a:p>
        </p:txBody>
      </p:sp>
      <p:sp>
        <p:nvSpPr>
          <p:cNvPr id="4" name="TextBox 3"/>
          <p:cNvSpPr txBox="1"/>
          <p:nvPr/>
        </p:nvSpPr>
        <p:spPr>
          <a:xfrm>
            <a:off x="822960" y="960120"/>
            <a:ext cx="4937760" cy="182880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One question a day, in your familiar’s voice.</a:t>
            </a:r>
          </a:p>
        </p:txBody>
      </p:sp>
      <p:sp>
        <p:nvSpPr>
          <p:cNvPr id="5" name="TextBox 4"/>
          <p:cNvSpPr txBox="1"/>
          <p:nvPr/>
        </p:nvSpPr>
        <p:spPr>
          <a:xfrm>
            <a:off x="822960" y="3017520"/>
            <a:ext cx="4754880" cy="2926080"/>
          </a:xfrm>
          <a:prstGeom prst="rect">
            <a:avLst/>
          </a:prstGeom>
          <a:noFill/>
        </p:spPr>
        <p:txBody>
          <a:bodyPr wrap="square" anchor="t" lIns="0" rIns="0" tIns="0" bIns="0">
            <a:spAutoFit/>
          </a:bodyPr>
          <a:lstStyle/>
          <a:p>
            <a:pPr algn="l">
              <a:lnSpc>
                <a:spcPct val="125000"/>
              </a:lnSpc>
            </a:pPr>
            <a:r>
              <a:rPr sz="2000" b="0">
                <a:solidFill>
                  <a:srgbClr val="C9C6E6"/>
                </a:solidFill>
                <a:latin typeface="Avenir Next"/>
              </a:rPr>
              <a:t>It lands on every phone in the circle at the same second, with the circle’s own three notes. You look up, and talk.</a:t>
            </a:r>
          </a:p>
          <a:p>
            <a:pPr algn="l">
              <a:lnSpc>
                <a:spcPct val="125000"/>
              </a:lnSpc>
            </a:pPr>
            <a:r>
              <a:rPr sz="800" b="0">
                <a:solidFill>
                  <a:srgbClr val="C9C6E6"/>
                </a:solidFill>
                <a:latin typeface="Avenir Next"/>
              </a:rPr>
              <a:t/>
            </a:r>
          </a:p>
          <a:p>
            <a:pPr algn="l">
              <a:lnSpc>
                <a:spcPct val="125000"/>
              </a:lnSpc>
            </a:pPr>
            <a:r>
              <a:rPr sz="2000" b="0">
                <a:solidFill>
                  <a:srgbClr val="F4F2FF"/>
                </a:solidFill>
                <a:latin typeface="Avenir Next"/>
              </a:rPr>
              <a:t>Nobody types. The phone listens and catches who said what.</a:t>
            </a:r>
          </a:p>
        </p:txBody>
      </p:sp>
      <p:pic>
        <p:nvPicPr>
          <p:cNvPr id="6" name="Picture 5" descr="f8.png"/>
          <p:cNvPicPr>
            <a:picLocks noChangeAspect="1"/>
          </p:cNvPicPr>
          <p:nvPr/>
        </p:nvPicPr>
        <p:blipFill>
          <a:blip r:embed="rId3"/>
          <a:stretch>
            <a:fillRect/>
          </a:stretch>
        </p:blipFill>
        <p:spPr>
          <a:xfrm>
            <a:off x="6766560" y="457200"/>
            <a:ext cx="2699411" cy="58521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5 · OUT</a:t>
            </a:r>
          </a:p>
        </p:txBody>
      </p:sp>
      <p:sp>
        <p:nvSpPr>
          <p:cNvPr id="4" name="TextBox 3"/>
          <p:cNvSpPr txBox="1"/>
          <p:nvPr/>
        </p:nvSpPr>
        <p:spPr>
          <a:xfrm>
            <a:off x="822960" y="731520"/>
            <a:ext cx="7315200" cy="1005840"/>
          </a:xfrm>
          <a:prstGeom prst="rect">
            <a:avLst/>
          </a:prstGeom>
          <a:noFill/>
        </p:spPr>
        <p:txBody>
          <a:bodyPr wrap="square" anchor="t" lIns="0" rIns="0" tIns="0" bIns="0">
            <a:spAutoFit/>
          </a:bodyPr>
          <a:lstStyle/>
          <a:p>
            <a:pPr algn="l">
              <a:lnSpc>
                <a:spcPct val="110000"/>
              </a:lnSpc>
            </a:pPr>
            <a:r>
              <a:rPr sz="2600" b="1">
                <a:solidFill>
                  <a:srgbClr val="F4F2FF"/>
                </a:solidFill>
                <a:latin typeface="Avenir Next"/>
              </a:rPr>
              <a:t>Merlin goes out and finds three. Swipe. When everyone is in, it is a plan.</a:t>
            </a:r>
          </a:p>
        </p:txBody>
      </p:sp>
      <p:sp>
        <p:nvSpPr>
          <p:cNvPr id="5" name="TextBox 4"/>
          <p:cNvSpPr txBox="1"/>
          <p:nvPr/>
        </p:nvSpPr>
        <p:spPr>
          <a:xfrm>
            <a:off x="8503920" y="822960"/>
            <a:ext cx="3108960" cy="731520"/>
          </a:xfrm>
          <a:prstGeom prst="rect">
            <a:avLst/>
          </a:prstGeom>
          <a:noFill/>
        </p:spPr>
        <p:txBody>
          <a:bodyPr wrap="square" anchor="t" lIns="0" rIns="0" tIns="0" bIns="0">
            <a:spAutoFit/>
          </a:bodyPr>
          <a:lstStyle/>
          <a:p>
            <a:pPr algn="l">
              <a:lnSpc>
                <a:spcPct val="120000"/>
              </a:lnSpc>
            </a:pPr>
            <a:r>
              <a:rPr sz="1300" b="0">
                <a:solidFill>
                  <a:srgbClr val="C9C6E6"/>
                </a:solidFill>
                <a:latin typeface="Avenir Next"/>
              </a:rPr>
              <a:t>Real, current events, researched, never invented. Published ones carry a source; a made-up one says so.</a:t>
            </a:r>
          </a:p>
        </p:txBody>
      </p:sp>
      <p:pic>
        <p:nvPicPr>
          <p:cNvPr id="6" name="Picture 5" descr="f9.png"/>
          <p:cNvPicPr>
            <a:picLocks noChangeAspect="1"/>
          </p:cNvPicPr>
          <p:nvPr/>
        </p:nvPicPr>
        <p:blipFill>
          <a:blip r:embed="rId3"/>
          <a:stretch>
            <a:fillRect/>
          </a:stretch>
        </p:blipFill>
        <p:spPr>
          <a:xfrm>
            <a:off x="2454265" y="1874519"/>
            <a:ext cx="2214361" cy="4800600"/>
          </a:xfrm>
          <a:prstGeom prst="rect">
            <a:avLst/>
          </a:prstGeom>
        </p:spPr>
      </p:pic>
      <p:pic>
        <p:nvPicPr>
          <p:cNvPr id="7" name="Picture 6" descr="f10.png"/>
          <p:cNvPicPr>
            <a:picLocks noChangeAspect="1"/>
          </p:cNvPicPr>
          <p:nvPr/>
        </p:nvPicPr>
        <p:blipFill>
          <a:blip r:embed="rId4"/>
          <a:stretch>
            <a:fillRect/>
          </a:stretch>
        </p:blipFill>
        <p:spPr>
          <a:xfrm>
            <a:off x="4988666" y="1874519"/>
            <a:ext cx="2214361" cy="4800600"/>
          </a:xfrm>
          <a:prstGeom prst="rect">
            <a:avLst/>
          </a:prstGeom>
        </p:spPr>
      </p:pic>
      <p:pic>
        <p:nvPicPr>
          <p:cNvPr id="8" name="Picture 7" descr="f11.png"/>
          <p:cNvPicPr>
            <a:picLocks noChangeAspect="1"/>
          </p:cNvPicPr>
          <p:nvPr/>
        </p:nvPicPr>
        <p:blipFill>
          <a:blip r:embed="rId5"/>
          <a:stretch>
            <a:fillRect/>
          </a:stretch>
        </p:blipFill>
        <p:spPr>
          <a:xfrm>
            <a:off x="7523068" y="1874519"/>
            <a:ext cx="2214361" cy="48006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6 · EVERY NIGHT</a:t>
            </a:r>
          </a:p>
        </p:txBody>
      </p:sp>
      <p:sp>
        <p:nvSpPr>
          <p:cNvPr id="4" name="TextBox 3"/>
          <p:cNvSpPr txBox="1"/>
          <p:nvPr/>
        </p:nvSpPr>
        <p:spPr>
          <a:xfrm>
            <a:off x="822960" y="960120"/>
            <a:ext cx="4754880" cy="1828800"/>
          </a:xfrm>
          <a:prstGeom prst="rect">
            <a:avLst/>
          </a:prstGeom>
          <a:noFill/>
        </p:spPr>
        <p:txBody>
          <a:bodyPr wrap="square" anchor="t" lIns="0" rIns="0" tIns="0" bIns="0">
            <a:spAutoFit/>
          </a:bodyPr>
          <a:lstStyle/>
          <a:p>
            <a:pPr algn="l">
              <a:lnSpc>
                <a:spcPct val="100000"/>
              </a:lnSpc>
            </a:pPr>
            <a:r>
              <a:rPr sz="4000" b="1">
                <a:solidFill>
                  <a:srgbClr val="F4F2FF"/>
                </a:solidFill>
                <a:latin typeface="Avenir Next"/>
              </a:rPr>
              <a:t>Your familiar tells you the story.</a:t>
            </a:r>
          </a:p>
        </p:txBody>
      </p:sp>
      <p:sp>
        <p:nvSpPr>
          <p:cNvPr id="5" name="TextBox 4"/>
          <p:cNvSpPr txBox="1"/>
          <p:nvPr/>
        </p:nvSpPr>
        <p:spPr>
          <a:xfrm>
            <a:off x="822960" y="2926080"/>
            <a:ext cx="4572000" cy="2743200"/>
          </a:xfrm>
          <a:prstGeom prst="rect">
            <a:avLst/>
          </a:prstGeom>
          <a:noFill/>
        </p:spPr>
        <p:txBody>
          <a:bodyPr wrap="square" anchor="t" lIns="0" rIns="0" tIns="0" bIns="0">
            <a:spAutoFit/>
          </a:bodyPr>
          <a:lstStyle/>
          <a:p>
            <a:pPr algn="l">
              <a:lnSpc>
                <a:spcPct val="125000"/>
              </a:lnSpc>
            </a:pPr>
            <a:r>
              <a:rPr sz="2000" b="0">
                <a:solidFill>
                  <a:srgbClr val="C9C6E6"/>
                </a:solidFill>
                <a:latin typeface="Avenir Next"/>
              </a:rPr>
              <a:t>Who it met, the line that worked, and the person who was two tables away all night.</a:t>
            </a:r>
          </a:p>
        </p:txBody>
      </p:sp>
      <p:pic>
        <p:nvPicPr>
          <p:cNvPr id="6" name="Picture 5" descr="f12.png"/>
          <p:cNvPicPr>
            <a:picLocks noChangeAspect="1"/>
          </p:cNvPicPr>
          <p:nvPr/>
        </p:nvPicPr>
        <p:blipFill>
          <a:blip r:embed="rId3"/>
          <a:stretch>
            <a:fillRect/>
          </a:stretch>
        </p:blipFill>
        <p:spPr>
          <a:xfrm>
            <a:off x="6035040" y="457200"/>
            <a:ext cx="2699411" cy="5852160"/>
          </a:xfrm>
          <a:prstGeom prst="rect">
            <a:avLst/>
          </a:prstGeom>
        </p:spPr>
      </p:pic>
      <p:pic>
        <p:nvPicPr>
          <p:cNvPr id="7" name="Picture 6" descr="f13.png"/>
          <p:cNvPicPr>
            <a:picLocks noChangeAspect="1"/>
          </p:cNvPicPr>
          <p:nvPr/>
        </p:nvPicPr>
        <p:blipFill>
          <a:blip r:embed="rId4"/>
          <a:stretch>
            <a:fillRect/>
          </a:stretch>
        </p:blipFill>
        <p:spPr>
          <a:xfrm>
            <a:off x="9052560" y="457200"/>
            <a:ext cx="2699411" cy="58521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0292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THE ROOM</a:t>
            </a:r>
          </a:p>
        </p:txBody>
      </p:sp>
      <p:sp>
        <p:nvSpPr>
          <p:cNvPr id="4" name="TextBox 3"/>
          <p:cNvSpPr txBox="1"/>
          <p:nvPr/>
        </p:nvSpPr>
        <p:spPr>
          <a:xfrm>
            <a:off x="822960" y="777240"/>
            <a:ext cx="8229600" cy="731520"/>
          </a:xfrm>
          <a:prstGeom prst="rect">
            <a:avLst/>
          </a:prstGeom>
          <a:noFill/>
        </p:spPr>
        <p:txBody>
          <a:bodyPr wrap="square" anchor="t" lIns="0" rIns="0" tIns="0" bIns="0">
            <a:spAutoFit/>
          </a:bodyPr>
          <a:lstStyle/>
          <a:p>
            <a:pPr algn="l">
              <a:lnSpc>
                <a:spcPct val="110000"/>
              </a:lnSpc>
            </a:pPr>
            <a:r>
              <a:rPr sz="3000" b="1">
                <a:solidFill>
                  <a:srgbClr val="F4F2FF"/>
                </a:solidFill>
                <a:latin typeface="Avenir Next"/>
              </a:rPr>
              <a:t>The room watches its own web form.</a:t>
            </a:r>
          </a:p>
        </p:txBody>
      </p:sp>
      <p:pic>
        <p:nvPicPr>
          <p:cNvPr id="5" name="Picture 4" descr="f14.png"/>
          <p:cNvPicPr>
            <a:picLocks noChangeAspect="1"/>
          </p:cNvPicPr>
          <p:nvPr/>
        </p:nvPicPr>
        <p:blipFill>
          <a:blip r:embed="rId3"/>
          <a:stretch>
            <a:fillRect/>
          </a:stretch>
        </p:blipFill>
        <p:spPr>
          <a:xfrm>
            <a:off x="1234440" y="1600200"/>
            <a:ext cx="9692640" cy="544915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54864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HOW IT IS BUILT</a:t>
            </a:r>
          </a:p>
        </p:txBody>
      </p:sp>
      <p:sp>
        <p:nvSpPr>
          <p:cNvPr id="4" name="TextBox 3"/>
          <p:cNvSpPr txBox="1"/>
          <p:nvPr/>
        </p:nvSpPr>
        <p:spPr>
          <a:xfrm>
            <a:off x="822960" y="822960"/>
            <a:ext cx="9144000" cy="731520"/>
          </a:xfrm>
          <a:prstGeom prst="rect">
            <a:avLst/>
          </a:prstGeom>
          <a:noFill/>
        </p:spPr>
        <p:txBody>
          <a:bodyPr wrap="square" anchor="t" lIns="0" rIns="0" tIns="0" bIns="0">
            <a:spAutoFit/>
          </a:bodyPr>
          <a:lstStyle/>
          <a:p>
            <a:pPr algn="l">
              <a:lnSpc>
                <a:spcPct val="110000"/>
              </a:lnSpc>
            </a:pPr>
            <a:r>
              <a:rPr sz="3000" b="1">
                <a:solidFill>
                  <a:srgbClr val="F4F2FF"/>
                </a:solidFill>
                <a:latin typeface="Avenir Next"/>
              </a:rPr>
              <a:t>Every familiar is its own model. The big one runs the world.</a:t>
            </a:r>
          </a:p>
        </p:txBody>
      </p:sp>
      <p:sp>
        <p:nvSpPr>
          <p:cNvPr id="5" name="TextBox 4"/>
          <p:cNvSpPr txBox="1"/>
          <p:nvPr/>
        </p:nvSpPr>
        <p:spPr>
          <a:xfrm>
            <a:off x="822960" y="1920240"/>
            <a:ext cx="338328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K2 Horizon 0.9B</a:t>
            </a:r>
          </a:p>
        </p:txBody>
      </p:sp>
      <p:sp>
        <p:nvSpPr>
          <p:cNvPr id="6" name="TextBox 5"/>
          <p:cNvSpPr txBox="1"/>
          <p:nvPr/>
        </p:nvSpPr>
        <p:spPr>
          <a:xfrm>
            <a:off x="822960" y="2423160"/>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One instance per familiar, with its own memory, small enough to live on the person’s side. It is the voice in the duet.</a:t>
            </a:r>
          </a:p>
        </p:txBody>
      </p:sp>
      <p:sp>
        <p:nvSpPr>
          <p:cNvPr id="7" name="TextBox 6"/>
          <p:cNvSpPr txBox="1"/>
          <p:nvPr/>
        </p:nvSpPr>
        <p:spPr>
          <a:xfrm>
            <a:off x="4526280" y="1920240"/>
            <a:ext cx="338328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K2 Horizon 375B</a:t>
            </a:r>
          </a:p>
        </p:txBody>
      </p:sp>
      <p:sp>
        <p:nvSpPr>
          <p:cNvPr id="8" name="TextBox 7"/>
          <p:cNvSpPr txBox="1"/>
          <p:nvPr/>
        </p:nvSpPr>
        <p:spPr>
          <a:xfrm>
            <a:off x="4526280" y="2423160"/>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Hatches familiars from the transcript, writes the daily cast, brokers intros, writes the nightly recap, and reasons through the scout’s investigation loop.</a:t>
            </a:r>
          </a:p>
        </p:txBody>
      </p:sp>
      <p:sp>
        <p:nvSpPr>
          <p:cNvPr id="9" name="TextBox 8"/>
          <p:cNvSpPr txBox="1"/>
          <p:nvPr/>
        </p:nvSpPr>
        <p:spPr>
          <a:xfrm>
            <a:off x="8229600" y="1920240"/>
            <a:ext cx="3383280" cy="548640"/>
          </a:xfrm>
          <a:prstGeom prst="rect">
            <a:avLst/>
          </a:prstGeom>
          <a:noFill/>
        </p:spPr>
        <p:txBody>
          <a:bodyPr wrap="square" anchor="t" lIns="0" rIns="0" tIns="0" bIns="0">
            <a:spAutoFit/>
          </a:bodyPr>
          <a:lstStyle/>
          <a:p>
            <a:pPr algn="l">
              <a:lnSpc>
                <a:spcPct val="110000"/>
              </a:lnSpc>
            </a:pPr>
            <a:r>
              <a:rPr sz="2200" b="1">
                <a:solidFill>
                  <a:srgbClr val="7CF0C4"/>
                </a:solidFill>
                <a:latin typeface="Avenir Next"/>
              </a:rPr>
              <a:t>ElevenLabs</a:t>
            </a:r>
          </a:p>
        </p:txBody>
      </p:sp>
      <p:sp>
        <p:nvSpPr>
          <p:cNvPr id="10" name="TextBox 9"/>
          <p:cNvSpPr txBox="1"/>
          <p:nvPr/>
        </p:nvSpPr>
        <p:spPr>
          <a:xfrm>
            <a:off x="8229600" y="2423160"/>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Speech-to-text hatches the familiar and catches the circle’s answers. Text-to-speech gives every familiar a voice.</a:t>
            </a:r>
          </a:p>
        </p:txBody>
      </p:sp>
      <p:sp>
        <p:nvSpPr>
          <p:cNvPr id="11" name="TextBox 10"/>
          <p:cNvSpPr txBox="1"/>
          <p:nvPr/>
        </p:nvSpPr>
        <p:spPr>
          <a:xfrm>
            <a:off x="822960" y="4206240"/>
            <a:ext cx="3383280" cy="548640"/>
          </a:xfrm>
          <a:prstGeom prst="rect">
            <a:avLst/>
          </a:prstGeom>
          <a:noFill/>
        </p:spPr>
        <p:txBody>
          <a:bodyPr wrap="square" anchor="t" lIns="0" rIns="0" tIns="0" bIns="0">
            <a:spAutoFit/>
          </a:bodyPr>
          <a:lstStyle/>
          <a:p>
            <a:pPr algn="l">
              <a:lnSpc>
                <a:spcPct val="110000"/>
              </a:lnSpc>
            </a:pPr>
            <a:r>
              <a:rPr sz="2200" b="1">
                <a:solidFill>
                  <a:srgbClr val="7CF0C4"/>
                </a:solidFill>
                <a:latin typeface="Avenir Next"/>
              </a:rPr>
              <a:t>Querit</a:t>
            </a:r>
          </a:p>
        </p:txBody>
      </p:sp>
      <p:sp>
        <p:nvSpPr>
          <p:cNvPr id="12" name="TextBox 11"/>
          <p:cNvSpPr txBox="1"/>
          <p:nvPr/>
        </p:nvSpPr>
        <p:spPr>
          <a:xfrm>
            <a:off x="822960" y="4709159"/>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Web search and page fetch for real, current events. The model plans the queries and extracts the facts. It never invents an event.</a:t>
            </a:r>
          </a:p>
        </p:txBody>
      </p:sp>
      <p:sp>
        <p:nvSpPr>
          <p:cNvPr id="13" name="TextBox 12"/>
          <p:cNvSpPr txBox="1"/>
          <p:nvPr/>
        </p:nvSpPr>
        <p:spPr>
          <a:xfrm>
            <a:off x="4526280" y="4206240"/>
            <a:ext cx="3383280" cy="548640"/>
          </a:xfrm>
          <a:prstGeom prst="rect">
            <a:avLst/>
          </a:prstGeom>
          <a:noFill/>
        </p:spPr>
        <p:txBody>
          <a:bodyPr wrap="square" anchor="t" lIns="0" rIns="0" tIns="0" bIns="0">
            <a:spAutoFit/>
          </a:bodyPr>
          <a:lstStyle/>
          <a:p>
            <a:pPr algn="l">
              <a:lnSpc>
                <a:spcPct val="110000"/>
              </a:lnSpc>
            </a:pPr>
            <a:r>
              <a:rPr sz="2200" b="1">
                <a:solidFill>
                  <a:srgbClr val="FF7AA2"/>
                </a:solidFill>
                <a:latin typeface="Avenir Next"/>
              </a:rPr>
              <a:t>The wiggle</a:t>
            </a:r>
          </a:p>
        </p:txBody>
      </p:sp>
      <p:sp>
        <p:nvSpPr>
          <p:cNvPr id="14" name="TextBox 13"/>
          <p:cNvSpPr txBox="1"/>
          <p:nvPr/>
        </p:nvSpPr>
        <p:spPr>
          <a:xfrm>
            <a:off x="4526280" y="4709159"/>
            <a:ext cx="3383280" cy="1645920"/>
          </a:xfrm>
          <a:prstGeom prst="rect">
            <a:avLst/>
          </a:prstGeom>
          <a:noFill/>
        </p:spPr>
        <p:txBody>
          <a:bodyPr wrap="square" anchor="t" lIns="0" rIns="0" tIns="0" bIns="0">
            <a:spAutoFit/>
          </a:bodyPr>
          <a:lstStyle/>
          <a:p>
            <a:pPr algn="l">
              <a:lnSpc>
                <a:spcPct val="125000"/>
              </a:lnSpc>
            </a:pPr>
            <a:r>
              <a:rPr sz="1400" b="0">
                <a:solidFill>
                  <a:srgbClr val="C9C6E6"/>
                </a:solidFill>
                <a:latin typeface="Avenir Next"/>
              </a:rPr>
              <a:t>DeviceMotion on both phones, matched server-side, one tap to catch. Next.js on Vercel, Upstash for shared state.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WHY MULTIPLAYER</a:t>
            </a:r>
          </a:p>
        </p:txBody>
      </p:sp>
      <p:sp>
        <p:nvSpPr>
          <p:cNvPr id="4" name="TextBox 3"/>
          <p:cNvSpPr txBox="1"/>
          <p:nvPr/>
        </p:nvSpPr>
        <p:spPr>
          <a:xfrm>
            <a:off x="822960" y="960120"/>
            <a:ext cx="6949440" cy="1828800"/>
          </a:xfrm>
          <a:prstGeom prst="rect">
            <a:avLst/>
          </a:prstGeom>
          <a:noFill/>
        </p:spPr>
        <p:txBody>
          <a:bodyPr wrap="square" anchor="t" lIns="0" rIns="0" tIns="0" bIns="0">
            <a:spAutoFit/>
          </a:bodyPr>
          <a:lstStyle/>
          <a:p>
            <a:pPr algn="l">
              <a:lnSpc>
                <a:spcPct val="100000"/>
              </a:lnSpc>
            </a:pPr>
            <a:r>
              <a:rPr sz="4400" b="1">
                <a:solidFill>
                  <a:srgbClr val="F4F2FF"/>
                </a:solidFill>
                <a:latin typeface="Avenir Next"/>
              </a:rPr>
              <a:t>Nothing here works with one phone.</a:t>
            </a:r>
          </a:p>
        </p:txBody>
      </p:sp>
      <p:sp>
        <p:nvSpPr>
          <p:cNvPr id="5" name="TextBox 4"/>
          <p:cNvSpPr txBox="1"/>
          <p:nvPr/>
        </p:nvSpPr>
        <p:spPr>
          <a:xfrm>
            <a:off x="822960" y="283464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wiggle</a:t>
            </a:r>
          </a:p>
        </p:txBody>
      </p:sp>
      <p:sp>
        <p:nvSpPr>
          <p:cNvPr id="6" name="TextBox 5"/>
          <p:cNvSpPr txBox="1"/>
          <p:nvPr/>
        </p:nvSpPr>
        <p:spPr>
          <a:xfrm>
            <a:off x="3108960" y="287121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the other phone to catch.</a:t>
            </a:r>
          </a:p>
        </p:txBody>
      </p:sp>
      <p:sp>
        <p:nvSpPr>
          <p:cNvPr id="7" name="TextBox 6"/>
          <p:cNvSpPr txBox="1"/>
          <p:nvPr/>
        </p:nvSpPr>
        <p:spPr>
          <a:xfrm>
            <a:off x="822960" y="361188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cast</a:t>
            </a:r>
          </a:p>
        </p:txBody>
      </p:sp>
      <p:sp>
        <p:nvSpPr>
          <p:cNvPr id="8" name="TextBox 7"/>
          <p:cNvSpPr txBox="1"/>
          <p:nvPr/>
        </p:nvSpPr>
        <p:spPr>
          <a:xfrm>
            <a:off x="3108960" y="364845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the circle to hear the same three notes.</a:t>
            </a:r>
          </a:p>
        </p:txBody>
      </p:sp>
      <p:sp>
        <p:nvSpPr>
          <p:cNvPr id="9" name="TextBox 8"/>
          <p:cNvSpPr txBox="1"/>
          <p:nvPr/>
        </p:nvSpPr>
        <p:spPr>
          <a:xfrm>
            <a:off x="822960" y="438912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plan</a:t>
            </a:r>
          </a:p>
        </p:txBody>
      </p:sp>
      <p:sp>
        <p:nvSpPr>
          <p:cNvPr id="10" name="TextBox 9"/>
          <p:cNvSpPr txBox="1"/>
          <p:nvPr/>
        </p:nvSpPr>
        <p:spPr>
          <a:xfrm>
            <a:off x="3108960" y="442569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everyone to swipe right.</a:t>
            </a:r>
          </a:p>
        </p:txBody>
      </p:sp>
      <p:sp>
        <p:nvSpPr>
          <p:cNvPr id="11" name="TextBox 10"/>
          <p:cNvSpPr txBox="1"/>
          <p:nvPr/>
        </p:nvSpPr>
        <p:spPr>
          <a:xfrm>
            <a:off x="822960" y="5166360"/>
            <a:ext cx="2194560" cy="548640"/>
          </a:xfrm>
          <a:prstGeom prst="rect">
            <a:avLst/>
          </a:prstGeom>
          <a:noFill/>
        </p:spPr>
        <p:txBody>
          <a:bodyPr wrap="square" anchor="t" lIns="0" rIns="0" tIns="0" bIns="0">
            <a:spAutoFit/>
          </a:bodyPr>
          <a:lstStyle/>
          <a:p>
            <a:pPr algn="l">
              <a:lnSpc>
                <a:spcPct val="110000"/>
              </a:lnSpc>
            </a:pPr>
            <a:r>
              <a:rPr sz="2200" b="1">
                <a:solidFill>
                  <a:srgbClr val="FFC85C"/>
                </a:solidFill>
                <a:latin typeface="Avenir Next"/>
              </a:rPr>
              <a:t>The intro</a:t>
            </a:r>
          </a:p>
        </p:txBody>
      </p:sp>
      <p:sp>
        <p:nvSpPr>
          <p:cNvPr id="12" name="TextBox 11"/>
          <p:cNvSpPr txBox="1"/>
          <p:nvPr/>
        </p:nvSpPr>
        <p:spPr>
          <a:xfrm>
            <a:off x="3108960" y="5202936"/>
            <a:ext cx="5486400" cy="548640"/>
          </a:xfrm>
          <a:prstGeom prst="rect">
            <a:avLst/>
          </a:prstGeom>
          <a:noFill/>
        </p:spPr>
        <p:txBody>
          <a:bodyPr wrap="square" anchor="t" lIns="0" rIns="0" tIns="0" bIns="0">
            <a:spAutoFit/>
          </a:bodyPr>
          <a:lstStyle/>
          <a:p>
            <a:pPr algn="l">
              <a:lnSpc>
                <a:spcPct val="110000"/>
              </a:lnSpc>
            </a:pPr>
            <a:r>
              <a:rPr sz="2000" b="0">
                <a:solidFill>
                  <a:srgbClr val="C9C6E6"/>
                </a:solidFill>
                <a:latin typeface="Avenir Next"/>
              </a:rPr>
              <a:t>needs a friend’s familiar in the middle.</a:t>
            </a:r>
          </a:p>
        </p:txBody>
      </p:sp>
      <p:pic>
        <p:nvPicPr>
          <p:cNvPr id="13" name="Picture 12" descr="f4.png"/>
          <p:cNvPicPr>
            <a:picLocks noChangeAspect="1"/>
          </p:cNvPicPr>
          <p:nvPr/>
        </p:nvPicPr>
        <p:blipFill>
          <a:blip r:embed="rId3"/>
          <a:stretch>
            <a:fillRect/>
          </a:stretch>
        </p:blipFill>
        <p:spPr>
          <a:xfrm>
            <a:off x="8595360" y="640080"/>
            <a:ext cx="2615055" cy="56692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640080"/>
            <a:ext cx="8229600" cy="274320"/>
          </a:xfrm>
          <a:prstGeom prst="rect">
            <a:avLst/>
          </a:prstGeom>
          <a:noFill/>
        </p:spPr>
        <p:txBody>
          <a:bodyPr wrap="square" anchor="t" lIns="0" rIns="0" tIns="0" bIns="0">
            <a:spAutoFit/>
          </a:bodyPr>
          <a:lstStyle/>
          <a:p>
            <a:pPr algn="l">
              <a:lnSpc>
                <a:spcPct val="110000"/>
              </a:lnSpc>
            </a:pPr>
            <a:r>
              <a:rPr sz="1100" b="1">
                <a:solidFill>
                  <a:srgbClr val="8E8BB4"/>
                </a:solidFill>
                <a:latin typeface="Avenir Next"/>
              </a:rPr>
              <a:t>WHAT IS NEXT</a:t>
            </a:r>
          </a:p>
        </p:txBody>
      </p:sp>
      <p:sp>
        <p:nvSpPr>
          <p:cNvPr id="4" name="TextBox 3"/>
          <p:cNvSpPr txBox="1"/>
          <p:nvPr/>
        </p:nvSpPr>
        <p:spPr>
          <a:xfrm>
            <a:off x="822960" y="960120"/>
            <a:ext cx="7315200" cy="1828800"/>
          </a:xfrm>
          <a:prstGeom prst="rect">
            <a:avLst/>
          </a:prstGeom>
          <a:noFill/>
        </p:spPr>
        <p:txBody>
          <a:bodyPr wrap="square" anchor="t" lIns="0" rIns="0" tIns="0" bIns="0">
            <a:spAutoFit/>
          </a:bodyPr>
          <a:lstStyle/>
          <a:p>
            <a:pPr algn="l">
              <a:lnSpc>
                <a:spcPct val="100000"/>
              </a:lnSpc>
            </a:pPr>
            <a:r>
              <a:rPr sz="4400" b="1">
                <a:solidFill>
                  <a:srgbClr val="F4F2FF"/>
                </a:solidFill>
                <a:latin typeface="Avenir Next"/>
              </a:rPr>
              <a:t>Familiars evolve with who they meet.</a:t>
            </a:r>
          </a:p>
        </p:txBody>
      </p:sp>
      <p:sp>
        <p:nvSpPr>
          <p:cNvPr id="5" name="TextBox 4"/>
          <p:cNvSpPr txBox="1"/>
          <p:nvPr/>
        </p:nvSpPr>
        <p:spPr>
          <a:xfrm>
            <a:off x="822960" y="2834640"/>
            <a:ext cx="6949440" cy="3108960"/>
          </a:xfrm>
          <a:prstGeom prst="rect">
            <a:avLst/>
          </a:prstGeom>
          <a:noFill/>
        </p:spPr>
        <p:txBody>
          <a:bodyPr wrap="square" anchor="t" lIns="0" rIns="0" tIns="0" bIns="0">
            <a:spAutoFit/>
          </a:bodyPr>
          <a:lstStyle/>
          <a:p>
            <a:pPr algn="l">
              <a:lnSpc>
                <a:spcPct val="130000"/>
              </a:lnSpc>
            </a:pPr>
            <a:r>
              <a:rPr sz="2200" b="0">
                <a:solidFill>
                  <a:srgbClr val="C9C6E6"/>
                </a:solidFill>
                <a:latin typeface="Avenir Next"/>
              </a:rPr>
              <a:t>Your familiar picks up a little of everyone it meets. Circles get named by what they share. The scout learns which outings actually happened, and finds the next one.</a:t>
            </a:r>
          </a:p>
        </p:txBody>
      </p:sp>
      <p:pic>
        <p:nvPicPr>
          <p:cNvPr id="6" name="Picture 5" descr="f6.png"/>
          <p:cNvPicPr>
            <a:picLocks noChangeAspect="1"/>
          </p:cNvPicPr>
          <p:nvPr/>
        </p:nvPicPr>
        <p:blipFill>
          <a:blip r:embed="rId3"/>
          <a:stretch>
            <a:fillRect/>
          </a:stretch>
        </p:blipFill>
        <p:spPr>
          <a:xfrm>
            <a:off x="8595360" y="640080"/>
            <a:ext cx="2615055" cy="56692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titl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103120"/>
            <a:ext cx="7315200" cy="1828800"/>
          </a:xfrm>
          <a:prstGeom prst="rect">
            <a:avLst/>
          </a:prstGeom>
          <a:noFill/>
        </p:spPr>
        <p:txBody>
          <a:bodyPr wrap="square" anchor="t" lIns="0" rIns="0" tIns="0" bIns="0">
            <a:spAutoFit/>
          </a:bodyPr>
          <a:lstStyle/>
          <a:p>
            <a:pPr algn="l">
              <a:lnSpc>
                <a:spcPct val="95000"/>
              </a:lnSpc>
            </a:pPr>
            <a:r>
              <a:rPr sz="8000" b="1">
                <a:solidFill>
                  <a:srgbClr val="F4F2FF"/>
                </a:solidFill>
                <a:latin typeface="Avenir Next"/>
              </a:rPr>
              <a:t>Familiars</a:t>
            </a:r>
          </a:p>
        </p:txBody>
      </p:sp>
      <p:sp>
        <p:nvSpPr>
          <p:cNvPr id="4" name="TextBox 3"/>
          <p:cNvSpPr txBox="1"/>
          <p:nvPr/>
        </p:nvSpPr>
        <p:spPr>
          <a:xfrm>
            <a:off x="822960" y="3931920"/>
            <a:ext cx="7315200" cy="1097280"/>
          </a:xfrm>
          <a:prstGeom prst="rect">
            <a:avLst/>
          </a:prstGeom>
          <a:noFill/>
        </p:spPr>
        <p:txBody>
          <a:bodyPr wrap="square" anchor="t" lIns="0" rIns="0" tIns="0" bIns="0">
            <a:spAutoFit/>
          </a:bodyPr>
          <a:lstStyle/>
          <a:p>
            <a:pPr algn="l">
              <a:lnSpc>
                <a:spcPct val="110000"/>
              </a:lnSpc>
            </a:pPr>
            <a:r>
              <a:rPr sz="3000" b="0">
                <a:solidFill>
                  <a:srgbClr val="C9C6E6"/>
                </a:solidFill>
                <a:latin typeface="Avenir Next"/>
              </a:rPr>
              <a:t>Meet through your familiar.</a:t>
            </a:r>
          </a:p>
        </p:txBody>
      </p:sp>
      <p:sp>
        <p:nvSpPr>
          <p:cNvPr id="5" name="TextBox 4"/>
          <p:cNvSpPr txBox="1"/>
          <p:nvPr/>
        </p:nvSpPr>
        <p:spPr>
          <a:xfrm>
            <a:off x="822960" y="5760720"/>
            <a:ext cx="8229600" cy="274320"/>
          </a:xfrm>
          <a:prstGeom prst="rect">
            <a:avLst/>
          </a:prstGeom>
          <a:noFill/>
        </p:spPr>
        <p:txBody>
          <a:bodyPr wrap="square" anchor="t" lIns="0" rIns="0" tIns="0" bIns="0">
            <a:spAutoFit/>
          </a:bodyPr>
          <a:lstStyle/>
          <a:p>
            <a:pPr algn="l">
              <a:lnSpc>
                <a:spcPct val="110000"/>
              </a:lnSpc>
            </a:pPr>
            <a:r>
              <a:rPr sz="1100" b="1">
                <a:solidFill>
                  <a:srgbClr val="FFC85C"/>
                </a:solidFill>
                <a:latin typeface="Avenir Next"/>
              </a:rPr>
              <a:t>BUILT AT HACKCMU 2026 · MULTIPLAYER · IFM K2 HORIZON · ELEVENLABS · QUERIT</a:t>
            </a:r>
          </a:p>
        </p:txBody>
      </p:sp>
      <p:pic>
        <p:nvPicPr>
          <p:cNvPr id="6" name="Picture 5" descr="f2.png"/>
          <p:cNvPicPr>
            <a:picLocks noChangeAspect="1"/>
          </p:cNvPicPr>
          <p:nvPr/>
        </p:nvPicPr>
        <p:blipFill>
          <a:blip r:embed="rId3"/>
          <a:stretch>
            <a:fillRect/>
          </a:stretch>
        </p:blipFill>
        <p:spPr>
          <a:xfrm>
            <a:off x="8138160" y="502920"/>
            <a:ext cx="2699411" cy="58521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